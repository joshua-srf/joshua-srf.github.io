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4" r:id="rId2"/>
    <p:sldId id="276" r:id="rId3"/>
    <p:sldId id="298" r:id="rId4"/>
    <p:sldId id="286" r:id="rId5"/>
    <p:sldId id="297" r:id="rId6"/>
    <p:sldId id="279" r:id="rId7"/>
    <p:sldId id="290" r:id="rId8"/>
    <p:sldId id="281" r:id="rId9"/>
    <p:sldId id="282" r:id="rId10"/>
    <p:sldId id="283" r:id="rId11"/>
    <p:sldId id="284" r:id="rId12"/>
    <p:sldId id="285" r:id="rId13"/>
    <p:sldId id="293" r:id="rId14"/>
    <p:sldId id="291" r:id="rId15"/>
    <p:sldId id="296"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62" autoAdjust="0"/>
    <p:restoredTop sz="94660"/>
  </p:normalViewPr>
  <p:slideViewPr>
    <p:cSldViewPr snapToGrid="0">
      <p:cViewPr varScale="1">
        <p:scale>
          <a:sx n="84" d="100"/>
          <a:sy n="84" d="100"/>
        </p:scale>
        <p:origin x="50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_rels/data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_rels/data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svg"/></Relationships>
</file>

<file path=ppt/diagrams/_rels/data3.xml.rels><?xml version="1.0" encoding="UTF-8" standalone="yes"?>
<Relationships xmlns="http://schemas.openxmlformats.org/package/2006/relationships"><Relationship Id="rId8" Type="http://schemas.openxmlformats.org/officeDocument/2006/relationships/image" Target="../media/image27.sv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image" Target="../media/image21.svg"/><Relationship Id="rId1" Type="http://schemas.openxmlformats.org/officeDocument/2006/relationships/image" Target="../media/image20.png"/><Relationship Id="rId6" Type="http://schemas.openxmlformats.org/officeDocument/2006/relationships/image" Target="../media/image25.svg"/><Relationship Id="rId5" Type="http://schemas.openxmlformats.org/officeDocument/2006/relationships/image" Target="../media/image24.png"/><Relationship Id="rId4" Type="http://schemas.openxmlformats.org/officeDocument/2006/relationships/image" Target="../media/image23.svg"/></Relationships>
</file>

<file path=ppt/diagrams/_rels/data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svg"/><Relationship Id="rId1" Type="http://schemas.openxmlformats.org/officeDocument/2006/relationships/image" Target="../media/image30.png"/><Relationship Id="rId6" Type="http://schemas.openxmlformats.org/officeDocument/2006/relationships/image" Target="../media/image35.svg"/><Relationship Id="rId5" Type="http://schemas.openxmlformats.org/officeDocument/2006/relationships/image" Target="../media/image34.png"/><Relationship Id="rId4" Type="http://schemas.openxmlformats.org/officeDocument/2006/relationships/image" Target="../media/image33.svg"/></Relationships>
</file>

<file path=ppt/diagrams/_rels/drawing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svg"/></Relationships>
</file>

<file path=ppt/diagrams/_rels/drawing3.xml.rels><?xml version="1.0" encoding="UTF-8" standalone="yes"?>
<Relationships xmlns="http://schemas.openxmlformats.org/package/2006/relationships"><Relationship Id="rId8" Type="http://schemas.openxmlformats.org/officeDocument/2006/relationships/image" Target="../media/image27.sv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image" Target="../media/image21.svg"/><Relationship Id="rId1" Type="http://schemas.openxmlformats.org/officeDocument/2006/relationships/image" Target="../media/image20.png"/><Relationship Id="rId6" Type="http://schemas.openxmlformats.org/officeDocument/2006/relationships/image" Target="../media/image25.svg"/><Relationship Id="rId5" Type="http://schemas.openxmlformats.org/officeDocument/2006/relationships/image" Target="../media/image24.png"/><Relationship Id="rId4" Type="http://schemas.openxmlformats.org/officeDocument/2006/relationships/image" Target="../media/image23.svg"/></Relationships>
</file>

<file path=ppt/diagrams/_rels/drawing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svg"/><Relationship Id="rId1" Type="http://schemas.openxmlformats.org/officeDocument/2006/relationships/image" Target="../media/image30.png"/><Relationship Id="rId6" Type="http://schemas.openxmlformats.org/officeDocument/2006/relationships/image" Target="../media/image35.svg"/><Relationship Id="rId5" Type="http://schemas.openxmlformats.org/officeDocument/2006/relationships/image" Target="../media/image34.png"/><Relationship Id="rId4" Type="http://schemas.openxmlformats.org/officeDocument/2006/relationships/image" Target="../media/image33.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F8D71B6-B28E-4454-B06B-F49F9E93E536}"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DBBAAC05-9857-4BD4-AAF0-F9586732D264}">
      <dgm:prSet/>
      <dgm:spPr/>
      <dgm:t>
        <a:bodyPr/>
        <a:lstStyle/>
        <a:p>
          <a:pPr>
            <a:lnSpc>
              <a:spcPct val="100000"/>
            </a:lnSpc>
          </a:pPr>
          <a:r>
            <a:rPr lang="en-GB" dirty="0"/>
            <a:t>• Rising energy demands and fossil fuel limitations</a:t>
          </a:r>
          <a:endParaRPr lang="en-US" dirty="0"/>
        </a:p>
      </dgm:t>
    </dgm:pt>
    <dgm:pt modelId="{027BA1EE-9F11-43E7-ACD5-7E8343F295F1}" type="parTrans" cxnId="{F387AE6D-9209-42B4-8419-950B5104AF67}">
      <dgm:prSet/>
      <dgm:spPr/>
      <dgm:t>
        <a:bodyPr/>
        <a:lstStyle/>
        <a:p>
          <a:endParaRPr lang="en-US"/>
        </a:p>
      </dgm:t>
    </dgm:pt>
    <dgm:pt modelId="{72BDF97E-56CD-46C4-90B1-BA1331306AB6}" type="sibTrans" cxnId="{F387AE6D-9209-42B4-8419-950B5104AF67}">
      <dgm:prSet/>
      <dgm:spPr/>
      <dgm:t>
        <a:bodyPr/>
        <a:lstStyle/>
        <a:p>
          <a:endParaRPr lang="en-US"/>
        </a:p>
      </dgm:t>
    </dgm:pt>
    <dgm:pt modelId="{09AEFCC6-F8A4-4CFC-80E6-70515FF78DD5}">
      <dgm:prSet/>
      <dgm:spPr/>
      <dgm:t>
        <a:bodyPr/>
        <a:lstStyle/>
        <a:p>
          <a:pPr>
            <a:lnSpc>
              <a:spcPct val="100000"/>
            </a:lnSpc>
          </a:pPr>
          <a:r>
            <a:rPr lang="en-GB"/>
            <a:t>• Hydrogen: High energy density, no harmful emissions</a:t>
          </a:r>
          <a:endParaRPr lang="en-US"/>
        </a:p>
      </dgm:t>
    </dgm:pt>
    <dgm:pt modelId="{A851D35E-5374-404B-92D1-47FF7804D24E}" type="parTrans" cxnId="{0B5CB2D6-D4E7-456E-A740-1E12688BC55F}">
      <dgm:prSet/>
      <dgm:spPr/>
      <dgm:t>
        <a:bodyPr/>
        <a:lstStyle/>
        <a:p>
          <a:endParaRPr lang="en-US"/>
        </a:p>
      </dgm:t>
    </dgm:pt>
    <dgm:pt modelId="{3CBE7C0C-EB37-4032-9353-EF15D6D76F6A}" type="sibTrans" cxnId="{0B5CB2D6-D4E7-456E-A740-1E12688BC55F}">
      <dgm:prSet/>
      <dgm:spPr/>
      <dgm:t>
        <a:bodyPr/>
        <a:lstStyle/>
        <a:p>
          <a:endParaRPr lang="en-US"/>
        </a:p>
      </dgm:t>
    </dgm:pt>
    <dgm:pt modelId="{C77FBD01-8F00-4E73-882D-B1E78FA16CF4}">
      <dgm:prSet/>
      <dgm:spPr/>
      <dgm:t>
        <a:bodyPr/>
        <a:lstStyle/>
        <a:p>
          <a:pPr>
            <a:lnSpc>
              <a:spcPct val="100000"/>
            </a:lnSpc>
          </a:pPr>
          <a:r>
            <a:rPr lang="en-GB"/>
            <a:t>• Goal: Efficient solar-powered hydrogen production</a:t>
          </a:r>
          <a:endParaRPr lang="en-US"/>
        </a:p>
      </dgm:t>
    </dgm:pt>
    <dgm:pt modelId="{B515798E-5EC2-4117-BC46-7FA846ABE9C7}" type="parTrans" cxnId="{97A7DDFA-70F8-4ADC-BF94-475936785F67}">
      <dgm:prSet/>
      <dgm:spPr/>
      <dgm:t>
        <a:bodyPr/>
        <a:lstStyle/>
        <a:p>
          <a:endParaRPr lang="en-US"/>
        </a:p>
      </dgm:t>
    </dgm:pt>
    <dgm:pt modelId="{81898119-2297-4446-BC40-F66BBEEFE09E}" type="sibTrans" cxnId="{97A7DDFA-70F8-4ADC-BF94-475936785F67}">
      <dgm:prSet/>
      <dgm:spPr/>
      <dgm:t>
        <a:bodyPr/>
        <a:lstStyle/>
        <a:p>
          <a:endParaRPr lang="en-US"/>
        </a:p>
      </dgm:t>
    </dgm:pt>
    <dgm:pt modelId="{C1CAEF48-E234-41FE-B6C1-3801080EEA10}" type="pres">
      <dgm:prSet presAssocID="{3F8D71B6-B28E-4454-B06B-F49F9E93E536}" presName="root" presStyleCnt="0">
        <dgm:presLayoutVars>
          <dgm:dir/>
          <dgm:resizeHandles val="exact"/>
        </dgm:presLayoutVars>
      </dgm:prSet>
      <dgm:spPr/>
    </dgm:pt>
    <dgm:pt modelId="{8E17F494-65EE-4722-912A-5ED59F8DCADD}" type="pres">
      <dgm:prSet presAssocID="{DBBAAC05-9857-4BD4-AAF0-F9586732D264}" presName="compNode" presStyleCnt="0"/>
      <dgm:spPr/>
    </dgm:pt>
    <dgm:pt modelId="{11EC5847-7A14-4681-A952-92798DEDE328}" type="pres">
      <dgm:prSet presAssocID="{DBBAAC05-9857-4BD4-AAF0-F9586732D264}" presName="bgRect" presStyleLbl="bgShp" presStyleIdx="0" presStyleCnt="3"/>
      <dgm:spPr/>
    </dgm:pt>
    <dgm:pt modelId="{0E8EAC48-4A53-46A7-8E81-6F5CE2B09B45}" type="pres">
      <dgm:prSet presAssocID="{DBBAAC05-9857-4BD4-AAF0-F9586732D264}"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Fire"/>
        </a:ext>
      </dgm:extLst>
    </dgm:pt>
    <dgm:pt modelId="{F7E5A6F8-4FCB-4A35-BA21-6E14453CF6CC}" type="pres">
      <dgm:prSet presAssocID="{DBBAAC05-9857-4BD4-AAF0-F9586732D264}" presName="spaceRect" presStyleCnt="0"/>
      <dgm:spPr/>
    </dgm:pt>
    <dgm:pt modelId="{75C5602F-D989-4B3C-B445-683B8EF2273F}" type="pres">
      <dgm:prSet presAssocID="{DBBAAC05-9857-4BD4-AAF0-F9586732D264}" presName="parTx" presStyleLbl="revTx" presStyleIdx="0" presStyleCnt="3">
        <dgm:presLayoutVars>
          <dgm:chMax val="0"/>
          <dgm:chPref val="0"/>
        </dgm:presLayoutVars>
      </dgm:prSet>
      <dgm:spPr/>
    </dgm:pt>
    <dgm:pt modelId="{9446A899-98C3-4040-B08B-83A6DCA38865}" type="pres">
      <dgm:prSet presAssocID="{72BDF97E-56CD-46C4-90B1-BA1331306AB6}" presName="sibTrans" presStyleCnt="0"/>
      <dgm:spPr/>
    </dgm:pt>
    <dgm:pt modelId="{3F914BDC-98E1-40FF-A1E4-259FFF9273C9}" type="pres">
      <dgm:prSet presAssocID="{09AEFCC6-F8A4-4CFC-80E6-70515FF78DD5}" presName="compNode" presStyleCnt="0"/>
      <dgm:spPr/>
    </dgm:pt>
    <dgm:pt modelId="{6C94B85E-36DA-49A4-99CC-D23A3819083E}" type="pres">
      <dgm:prSet presAssocID="{09AEFCC6-F8A4-4CFC-80E6-70515FF78DD5}" presName="bgRect" presStyleLbl="bgShp" presStyleIdx="1" presStyleCnt="3"/>
      <dgm:spPr/>
    </dgm:pt>
    <dgm:pt modelId="{E84E1B58-DEE3-4152-8996-EC5E562B8279}" type="pres">
      <dgm:prSet presAssocID="{09AEFCC6-F8A4-4CFC-80E6-70515FF78DD5}"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Electric Car"/>
        </a:ext>
      </dgm:extLst>
    </dgm:pt>
    <dgm:pt modelId="{1D4B76BF-DF30-4371-B3D7-AD5FE83D131B}" type="pres">
      <dgm:prSet presAssocID="{09AEFCC6-F8A4-4CFC-80E6-70515FF78DD5}" presName="spaceRect" presStyleCnt="0"/>
      <dgm:spPr/>
    </dgm:pt>
    <dgm:pt modelId="{85CC76F9-33B2-4413-820E-1D7F7FB03CCE}" type="pres">
      <dgm:prSet presAssocID="{09AEFCC6-F8A4-4CFC-80E6-70515FF78DD5}" presName="parTx" presStyleLbl="revTx" presStyleIdx="1" presStyleCnt="3">
        <dgm:presLayoutVars>
          <dgm:chMax val="0"/>
          <dgm:chPref val="0"/>
        </dgm:presLayoutVars>
      </dgm:prSet>
      <dgm:spPr/>
    </dgm:pt>
    <dgm:pt modelId="{01E6872F-68D5-40A0-BC15-6696C058FC1B}" type="pres">
      <dgm:prSet presAssocID="{3CBE7C0C-EB37-4032-9353-EF15D6D76F6A}" presName="sibTrans" presStyleCnt="0"/>
      <dgm:spPr/>
    </dgm:pt>
    <dgm:pt modelId="{E9991C00-B350-46D1-9ADD-BF7C6EFDA4FA}" type="pres">
      <dgm:prSet presAssocID="{C77FBD01-8F00-4E73-882D-B1E78FA16CF4}" presName="compNode" presStyleCnt="0"/>
      <dgm:spPr/>
    </dgm:pt>
    <dgm:pt modelId="{5D2EE85A-A38E-404C-B2B4-1725E3956964}" type="pres">
      <dgm:prSet presAssocID="{C77FBD01-8F00-4E73-882D-B1E78FA16CF4}" presName="bgRect" presStyleLbl="bgShp" presStyleIdx="2" presStyleCnt="3"/>
      <dgm:spPr/>
    </dgm:pt>
    <dgm:pt modelId="{9A72C1EC-B004-48C9-9DF0-63E99798664F}" type="pres">
      <dgm:prSet presAssocID="{C77FBD01-8F00-4E73-882D-B1E78FA16CF4}"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Sun"/>
        </a:ext>
      </dgm:extLst>
    </dgm:pt>
    <dgm:pt modelId="{200E8F2E-6459-4F6D-8DFE-B26A9D59E7BF}" type="pres">
      <dgm:prSet presAssocID="{C77FBD01-8F00-4E73-882D-B1E78FA16CF4}" presName="spaceRect" presStyleCnt="0"/>
      <dgm:spPr/>
    </dgm:pt>
    <dgm:pt modelId="{DAFA062C-053D-4AEB-B198-C85CD59C5C10}" type="pres">
      <dgm:prSet presAssocID="{C77FBD01-8F00-4E73-882D-B1E78FA16CF4}" presName="parTx" presStyleLbl="revTx" presStyleIdx="2" presStyleCnt="3">
        <dgm:presLayoutVars>
          <dgm:chMax val="0"/>
          <dgm:chPref val="0"/>
        </dgm:presLayoutVars>
      </dgm:prSet>
      <dgm:spPr/>
    </dgm:pt>
  </dgm:ptLst>
  <dgm:cxnLst>
    <dgm:cxn modelId="{CCEA7633-0343-49FC-B07D-2057CD7078F6}" type="presOf" srcId="{DBBAAC05-9857-4BD4-AAF0-F9586732D264}" destId="{75C5602F-D989-4B3C-B445-683B8EF2273F}" srcOrd="0" destOrd="0" presId="urn:microsoft.com/office/officeart/2018/2/layout/IconVerticalSolidList"/>
    <dgm:cxn modelId="{F387AE6D-9209-42B4-8419-950B5104AF67}" srcId="{3F8D71B6-B28E-4454-B06B-F49F9E93E536}" destId="{DBBAAC05-9857-4BD4-AAF0-F9586732D264}" srcOrd="0" destOrd="0" parTransId="{027BA1EE-9F11-43E7-ACD5-7E8343F295F1}" sibTransId="{72BDF97E-56CD-46C4-90B1-BA1331306AB6}"/>
    <dgm:cxn modelId="{AF31F183-616C-40C1-915A-618726644621}" type="presOf" srcId="{09AEFCC6-F8A4-4CFC-80E6-70515FF78DD5}" destId="{85CC76F9-33B2-4413-820E-1D7F7FB03CCE}" srcOrd="0" destOrd="0" presId="urn:microsoft.com/office/officeart/2018/2/layout/IconVerticalSolidList"/>
    <dgm:cxn modelId="{FC26E19F-EC2A-456A-8C71-DC4820AA1975}" type="presOf" srcId="{C77FBD01-8F00-4E73-882D-B1E78FA16CF4}" destId="{DAFA062C-053D-4AEB-B198-C85CD59C5C10}" srcOrd="0" destOrd="0" presId="urn:microsoft.com/office/officeart/2018/2/layout/IconVerticalSolidList"/>
    <dgm:cxn modelId="{0B5CB2D6-D4E7-456E-A740-1E12688BC55F}" srcId="{3F8D71B6-B28E-4454-B06B-F49F9E93E536}" destId="{09AEFCC6-F8A4-4CFC-80E6-70515FF78DD5}" srcOrd="1" destOrd="0" parTransId="{A851D35E-5374-404B-92D1-47FF7804D24E}" sibTransId="{3CBE7C0C-EB37-4032-9353-EF15D6D76F6A}"/>
    <dgm:cxn modelId="{134C5BED-3586-4E68-B307-B8FFDBAF2CFE}" type="presOf" srcId="{3F8D71B6-B28E-4454-B06B-F49F9E93E536}" destId="{C1CAEF48-E234-41FE-B6C1-3801080EEA10}" srcOrd="0" destOrd="0" presId="urn:microsoft.com/office/officeart/2018/2/layout/IconVerticalSolidList"/>
    <dgm:cxn modelId="{97A7DDFA-70F8-4ADC-BF94-475936785F67}" srcId="{3F8D71B6-B28E-4454-B06B-F49F9E93E536}" destId="{C77FBD01-8F00-4E73-882D-B1E78FA16CF4}" srcOrd="2" destOrd="0" parTransId="{B515798E-5EC2-4117-BC46-7FA846ABE9C7}" sibTransId="{81898119-2297-4446-BC40-F66BBEEFE09E}"/>
    <dgm:cxn modelId="{67053783-474B-44FB-9E67-3CDF2951073C}" type="presParOf" srcId="{C1CAEF48-E234-41FE-B6C1-3801080EEA10}" destId="{8E17F494-65EE-4722-912A-5ED59F8DCADD}" srcOrd="0" destOrd="0" presId="urn:microsoft.com/office/officeart/2018/2/layout/IconVerticalSolidList"/>
    <dgm:cxn modelId="{EA05F167-3761-403A-8A9E-340BDAA15613}" type="presParOf" srcId="{8E17F494-65EE-4722-912A-5ED59F8DCADD}" destId="{11EC5847-7A14-4681-A952-92798DEDE328}" srcOrd="0" destOrd="0" presId="urn:microsoft.com/office/officeart/2018/2/layout/IconVerticalSolidList"/>
    <dgm:cxn modelId="{597327E3-8F82-447E-9532-2F51421408D1}" type="presParOf" srcId="{8E17F494-65EE-4722-912A-5ED59F8DCADD}" destId="{0E8EAC48-4A53-46A7-8E81-6F5CE2B09B45}" srcOrd="1" destOrd="0" presId="urn:microsoft.com/office/officeart/2018/2/layout/IconVerticalSolidList"/>
    <dgm:cxn modelId="{F183F6BC-6F59-4532-8A85-BA0A178BA0E9}" type="presParOf" srcId="{8E17F494-65EE-4722-912A-5ED59F8DCADD}" destId="{F7E5A6F8-4FCB-4A35-BA21-6E14453CF6CC}" srcOrd="2" destOrd="0" presId="urn:microsoft.com/office/officeart/2018/2/layout/IconVerticalSolidList"/>
    <dgm:cxn modelId="{0C98B212-9164-45DE-864B-5F29DA0F3A25}" type="presParOf" srcId="{8E17F494-65EE-4722-912A-5ED59F8DCADD}" destId="{75C5602F-D989-4B3C-B445-683B8EF2273F}" srcOrd="3" destOrd="0" presId="urn:microsoft.com/office/officeart/2018/2/layout/IconVerticalSolidList"/>
    <dgm:cxn modelId="{E6D041FD-E568-4AB3-8668-E2CEF6E0FEE0}" type="presParOf" srcId="{C1CAEF48-E234-41FE-B6C1-3801080EEA10}" destId="{9446A899-98C3-4040-B08B-83A6DCA38865}" srcOrd="1" destOrd="0" presId="urn:microsoft.com/office/officeart/2018/2/layout/IconVerticalSolidList"/>
    <dgm:cxn modelId="{B07AE0CF-02BB-46F3-B34F-76AFCB63BBA7}" type="presParOf" srcId="{C1CAEF48-E234-41FE-B6C1-3801080EEA10}" destId="{3F914BDC-98E1-40FF-A1E4-259FFF9273C9}" srcOrd="2" destOrd="0" presId="urn:microsoft.com/office/officeart/2018/2/layout/IconVerticalSolidList"/>
    <dgm:cxn modelId="{F8513C60-9997-4D47-A891-DD1EA6690D33}" type="presParOf" srcId="{3F914BDC-98E1-40FF-A1E4-259FFF9273C9}" destId="{6C94B85E-36DA-49A4-99CC-D23A3819083E}" srcOrd="0" destOrd="0" presId="urn:microsoft.com/office/officeart/2018/2/layout/IconVerticalSolidList"/>
    <dgm:cxn modelId="{08B32731-0FD0-4FD2-8A90-8D6BFD4ABEA1}" type="presParOf" srcId="{3F914BDC-98E1-40FF-A1E4-259FFF9273C9}" destId="{E84E1B58-DEE3-4152-8996-EC5E562B8279}" srcOrd="1" destOrd="0" presId="urn:microsoft.com/office/officeart/2018/2/layout/IconVerticalSolidList"/>
    <dgm:cxn modelId="{60FA90BB-8FA0-405D-ABD0-657FACD834B8}" type="presParOf" srcId="{3F914BDC-98E1-40FF-A1E4-259FFF9273C9}" destId="{1D4B76BF-DF30-4371-B3D7-AD5FE83D131B}" srcOrd="2" destOrd="0" presId="urn:microsoft.com/office/officeart/2018/2/layout/IconVerticalSolidList"/>
    <dgm:cxn modelId="{A166856A-12A6-42C4-999F-034A4F885514}" type="presParOf" srcId="{3F914BDC-98E1-40FF-A1E4-259FFF9273C9}" destId="{85CC76F9-33B2-4413-820E-1D7F7FB03CCE}" srcOrd="3" destOrd="0" presId="urn:microsoft.com/office/officeart/2018/2/layout/IconVerticalSolidList"/>
    <dgm:cxn modelId="{3183F4FC-D3CE-4D10-8524-445416561893}" type="presParOf" srcId="{C1CAEF48-E234-41FE-B6C1-3801080EEA10}" destId="{01E6872F-68D5-40A0-BC15-6696C058FC1B}" srcOrd="3" destOrd="0" presId="urn:microsoft.com/office/officeart/2018/2/layout/IconVerticalSolidList"/>
    <dgm:cxn modelId="{32EBC660-EB7A-4E7F-B65E-F44DE6AA4DDE}" type="presParOf" srcId="{C1CAEF48-E234-41FE-B6C1-3801080EEA10}" destId="{E9991C00-B350-46D1-9ADD-BF7C6EFDA4FA}" srcOrd="4" destOrd="0" presId="urn:microsoft.com/office/officeart/2018/2/layout/IconVerticalSolidList"/>
    <dgm:cxn modelId="{DE42CF68-02AA-4201-A8F7-D29F2592DDC6}" type="presParOf" srcId="{E9991C00-B350-46D1-9ADD-BF7C6EFDA4FA}" destId="{5D2EE85A-A38E-404C-B2B4-1725E3956964}" srcOrd="0" destOrd="0" presId="urn:microsoft.com/office/officeart/2018/2/layout/IconVerticalSolidList"/>
    <dgm:cxn modelId="{05B951EE-DED9-4F7E-8DAB-40548671F125}" type="presParOf" srcId="{E9991C00-B350-46D1-9ADD-BF7C6EFDA4FA}" destId="{9A72C1EC-B004-48C9-9DF0-63E99798664F}" srcOrd="1" destOrd="0" presId="urn:microsoft.com/office/officeart/2018/2/layout/IconVerticalSolidList"/>
    <dgm:cxn modelId="{D1039462-31D7-4EA5-B8E1-241C264BDA4C}" type="presParOf" srcId="{E9991C00-B350-46D1-9ADD-BF7C6EFDA4FA}" destId="{200E8F2E-6459-4F6D-8DFE-B26A9D59E7BF}" srcOrd="2" destOrd="0" presId="urn:microsoft.com/office/officeart/2018/2/layout/IconVerticalSolidList"/>
    <dgm:cxn modelId="{FF9C444B-4E94-4796-9185-A7D6FCC3BDC0}" type="presParOf" srcId="{E9991C00-B350-46D1-9ADD-BF7C6EFDA4FA}" destId="{DAFA062C-053D-4AEB-B198-C85CD59C5C10}"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670C1D3-FC4E-4ECB-9E54-713C347EB659}"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317A6B59-519B-43E0-BBBE-8DE9F622AC40}">
      <dgm:prSet/>
      <dgm:spPr/>
      <dgm:t>
        <a:bodyPr/>
        <a:lstStyle/>
        <a:p>
          <a:pPr>
            <a:lnSpc>
              <a:spcPct val="100000"/>
            </a:lnSpc>
          </a:pPr>
          <a:r>
            <a:rPr lang="en-US"/>
            <a:t>• PE-VC systems selected for efficiency (up to 32%)</a:t>
          </a:r>
        </a:p>
      </dgm:t>
    </dgm:pt>
    <dgm:pt modelId="{36448F55-3963-4DED-802D-0B0BB4A59F83}" type="parTrans" cxnId="{2F331D7C-2F69-4A3D-9844-A75AEFFF78B8}">
      <dgm:prSet/>
      <dgm:spPr/>
      <dgm:t>
        <a:bodyPr/>
        <a:lstStyle/>
        <a:p>
          <a:endParaRPr lang="en-US"/>
        </a:p>
      </dgm:t>
    </dgm:pt>
    <dgm:pt modelId="{ADEEEF9E-0C47-46D1-8F50-3BF9149D01D1}" type="sibTrans" cxnId="{2F331D7C-2F69-4A3D-9844-A75AEFFF78B8}">
      <dgm:prSet/>
      <dgm:spPr/>
      <dgm:t>
        <a:bodyPr/>
        <a:lstStyle/>
        <a:p>
          <a:pPr>
            <a:lnSpc>
              <a:spcPct val="100000"/>
            </a:lnSpc>
          </a:pPr>
          <a:endParaRPr lang="en-US"/>
        </a:p>
      </dgm:t>
    </dgm:pt>
    <dgm:pt modelId="{0EC844F6-AC9D-4B07-ADE0-4801FFE2AD3E}">
      <dgm:prSet/>
      <dgm:spPr/>
      <dgm:t>
        <a:bodyPr/>
        <a:lstStyle/>
        <a:p>
          <a:pPr>
            <a:lnSpc>
              <a:spcPct val="100000"/>
            </a:lnSpc>
          </a:pPr>
          <a:r>
            <a:rPr lang="en-US" dirty="0"/>
            <a:t>• Oxford PV panels: 25% conversion, 1087 W/m² output</a:t>
          </a:r>
        </a:p>
      </dgm:t>
    </dgm:pt>
    <dgm:pt modelId="{B80FE0E3-48B6-4477-940E-9D2290781117}" type="parTrans" cxnId="{105A9C07-2C97-4FDD-A24D-DFF255FAC3CC}">
      <dgm:prSet/>
      <dgm:spPr/>
      <dgm:t>
        <a:bodyPr/>
        <a:lstStyle/>
        <a:p>
          <a:endParaRPr lang="en-US"/>
        </a:p>
      </dgm:t>
    </dgm:pt>
    <dgm:pt modelId="{1B323F58-D3C8-489C-BBE2-20B65C95030B}" type="sibTrans" cxnId="{105A9C07-2C97-4FDD-A24D-DFF255FAC3CC}">
      <dgm:prSet/>
      <dgm:spPr/>
      <dgm:t>
        <a:bodyPr/>
        <a:lstStyle/>
        <a:p>
          <a:pPr>
            <a:lnSpc>
              <a:spcPct val="100000"/>
            </a:lnSpc>
          </a:pPr>
          <a:endParaRPr lang="en-US"/>
        </a:p>
      </dgm:t>
    </dgm:pt>
    <dgm:pt modelId="{CB886C17-7392-49DA-9F27-D3F4B4A7DC06}">
      <dgm:prSet/>
      <dgm:spPr/>
      <dgm:t>
        <a:bodyPr/>
        <a:lstStyle/>
        <a:p>
          <a:pPr>
            <a:lnSpc>
              <a:spcPct val="100000"/>
            </a:lnSpc>
          </a:pPr>
          <a:r>
            <a:rPr lang="en-US"/>
            <a:t>• Solar tracking increases output by ~22%</a:t>
          </a:r>
        </a:p>
      </dgm:t>
    </dgm:pt>
    <dgm:pt modelId="{1E506F62-1997-4225-97CC-F685C6175D25}" type="parTrans" cxnId="{66DAE161-053F-4C0F-889C-31B8917376A3}">
      <dgm:prSet/>
      <dgm:spPr/>
      <dgm:t>
        <a:bodyPr/>
        <a:lstStyle/>
        <a:p>
          <a:endParaRPr lang="en-US"/>
        </a:p>
      </dgm:t>
    </dgm:pt>
    <dgm:pt modelId="{55418C9B-5C91-4C81-804F-12C483516B4B}" type="sibTrans" cxnId="{66DAE161-053F-4C0F-889C-31B8917376A3}">
      <dgm:prSet/>
      <dgm:spPr/>
      <dgm:t>
        <a:bodyPr/>
        <a:lstStyle/>
        <a:p>
          <a:endParaRPr lang="en-US"/>
        </a:p>
      </dgm:t>
    </dgm:pt>
    <dgm:pt modelId="{89043298-CBD6-4661-A751-BCA7058FB77F}" type="pres">
      <dgm:prSet presAssocID="{3670C1D3-FC4E-4ECB-9E54-713C347EB659}" presName="root" presStyleCnt="0">
        <dgm:presLayoutVars>
          <dgm:dir/>
          <dgm:resizeHandles val="exact"/>
        </dgm:presLayoutVars>
      </dgm:prSet>
      <dgm:spPr/>
    </dgm:pt>
    <dgm:pt modelId="{AD0FFE81-BC5F-43AB-8736-66B5E2BBEC16}" type="pres">
      <dgm:prSet presAssocID="{3670C1D3-FC4E-4ECB-9E54-713C347EB659}" presName="container" presStyleCnt="0">
        <dgm:presLayoutVars>
          <dgm:dir/>
          <dgm:resizeHandles val="exact"/>
        </dgm:presLayoutVars>
      </dgm:prSet>
      <dgm:spPr/>
    </dgm:pt>
    <dgm:pt modelId="{C15A6C23-FAA1-4CCE-B741-E026B513B849}" type="pres">
      <dgm:prSet presAssocID="{317A6B59-519B-43E0-BBBE-8DE9F622AC40}" presName="compNode" presStyleCnt="0"/>
      <dgm:spPr/>
    </dgm:pt>
    <dgm:pt modelId="{D39739D0-87A5-474F-A8BE-3C8B911496C8}" type="pres">
      <dgm:prSet presAssocID="{317A6B59-519B-43E0-BBBE-8DE9F622AC40}" presName="iconBgRect" presStyleLbl="bgShp" presStyleIdx="0" presStyleCnt="3"/>
      <dgm:spPr/>
    </dgm:pt>
    <dgm:pt modelId="{04DA5AA3-6877-4E4E-ABA6-F5FD2F6A7EC3}" type="pres">
      <dgm:prSet presAssocID="{317A6B59-519B-43E0-BBBE-8DE9F622AC40}"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Processor"/>
        </a:ext>
      </dgm:extLst>
    </dgm:pt>
    <dgm:pt modelId="{A67CEDE2-3EDA-4B4E-91A2-44F01782F74B}" type="pres">
      <dgm:prSet presAssocID="{317A6B59-519B-43E0-BBBE-8DE9F622AC40}" presName="spaceRect" presStyleCnt="0"/>
      <dgm:spPr/>
    </dgm:pt>
    <dgm:pt modelId="{82F0133C-AD6A-4A84-9352-8387F2433F86}" type="pres">
      <dgm:prSet presAssocID="{317A6B59-519B-43E0-BBBE-8DE9F622AC40}" presName="textRect" presStyleLbl="revTx" presStyleIdx="0" presStyleCnt="3">
        <dgm:presLayoutVars>
          <dgm:chMax val="1"/>
          <dgm:chPref val="1"/>
        </dgm:presLayoutVars>
      </dgm:prSet>
      <dgm:spPr/>
    </dgm:pt>
    <dgm:pt modelId="{8C76E4EE-312C-4FC8-85A1-92A4138E2B11}" type="pres">
      <dgm:prSet presAssocID="{ADEEEF9E-0C47-46D1-8F50-3BF9149D01D1}" presName="sibTrans" presStyleLbl="sibTrans2D1" presStyleIdx="0" presStyleCnt="0"/>
      <dgm:spPr/>
    </dgm:pt>
    <dgm:pt modelId="{9B5E5EA6-A89F-468F-A4ED-BD63D47F2389}" type="pres">
      <dgm:prSet presAssocID="{0EC844F6-AC9D-4B07-ADE0-4801FFE2AD3E}" presName="compNode" presStyleCnt="0"/>
      <dgm:spPr/>
    </dgm:pt>
    <dgm:pt modelId="{8FB54917-AE5D-435F-9596-21E0E36404F4}" type="pres">
      <dgm:prSet presAssocID="{0EC844F6-AC9D-4B07-ADE0-4801FFE2AD3E}" presName="iconBgRect" presStyleLbl="bgShp" presStyleIdx="1" presStyleCnt="3"/>
      <dgm:spPr/>
    </dgm:pt>
    <dgm:pt modelId="{6F4C1823-0063-4E11-8A90-4C9EE49CA3D2}" type="pres">
      <dgm:prSet presAssocID="{0EC844F6-AC9D-4B07-ADE0-4801FFE2AD3E}" presName="iconRect" presStyleLbl="node1" presStyleIdx="1" presStyleCnt="3"/>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dgm:spPr>
      <dgm:extLst>
        <a:ext uri="{E40237B7-FDA0-4F09-8148-C483321AD2D9}">
          <dgm14:cNvPr xmlns:dgm14="http://schemas.microsoft.com/office/drawing/2010/diagram" id="0" name="" descr="Lights On with solid fill"/>
        </a:ext>
      </dgm:extLst>
    </dgm:pt>
    <dgm:pt modelId="{A3B020F3-8319-4CF4-9F06-3D510211B9CB}" type="pres">
      <dgm:prSet presAssocID="{0EC844F6-AC9D-4B07-ADE0-4801FFE2AD3E}" presName="spaceRect" presStyleCnt="0"/>
      <dgm:spPr/>
    </dgm:pt>
    <dgm:pt modelId="{9EE9FCED-6AAF-493E-8CD6-B6BD348E321E}" type="pres">
      <dgm:prSet presAssocID="{0EC844F6-AC9D-4B07-ADE0-4801FFE2AD3E}" presName="textRect" presStyleLbl="revTx" presStyleIdx="1" presStyleCnt="3">
        <dgm:presLayoutVars>
          <dgm:chMax val="1"/>
          <dgm:chPref val="1"/>
        </dgm:presLayoutVars>
      </dgm:prSet>
      <dgm:spPr/>
    </dgm:pt>
    <dgm:pt modelId="{8CCE485A-97D5-4A37-AFC3-63500CBE8C0A}" type="pres">
      <dgm:prSet presAssocID="{1B323F58-D3C8-489C-BBE2-20B65C95030B}" presName="sibTrans" presStyleLbl="sibTrans2D1" presStyleIdx="0" presStyleCnt="0"/>
      <dgm:spPr/>
    </dgm:pt>
    <dgm:pt modelId="{1F23A3FD-612F-4A1A-BF00-0B686358F38B}" type="pres">
      <dgm:prSet presAssocID="{CB886C17-7392-49DA-9F27-D3F4B4A7DC06}" presName="compNode" presStyleCnt="0"/>
      <dgm:spPr/>
    </dgm:pt>
    <dgm:pt modelId="{F3A0C413-1112-4C78-A976-B99F6E95F419}" type="pres">
      <dgm:prSet presAssocID="{CB886C17-7392-49DA-9F27-D3F4B4A7DC06}" presName="iconBgRect" presStyleLbl="bgShp" presStyleIdx="2" presStyleCnt="3"/>
      <dgm:spPr/>
    </dgm:pt>
    <dgm:pt modelId="{4CD2113F-D751-4053-8803-E9AE76078E7B}" type="pres">
      <dgm:prSet presAssocID="{CB886C17-7392-49DA-9F27-D3F4B4A7DC06}" presName="iconRect" presStyleLbl="node1" presStyleIdx="2" presStyleCnt="3"/>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dgm:spPr>
      <dgm:extLst>
        <a:ext uri="{E40237B7-FDA0-4F09-8148-C483321AD2D9}">
          <dgm14:cNvPr xmlns:dgm14="http://schemas.microsoft.com/office/drawing/2010/diagram" id="0" name="" descr="Compass with solid fill"/>
        </a:ext>
      </dgm:extLst>
    </dgm:pt>
    <dgm:pt modelId="{81F3E8EE-3A2B-4B2A-88F9-028D85EAF536}" type="pres">
      <dgm:prSet presAssocID="{CB886C17-7392-49DA-9F27-D3F4B4A7DC06}" presName="spaceRect" presStyleCnt="0"/>
      <dgm:spPr/>
    </dgm:pt>
    <dgm:pt modelId="{62EC230D-F946-4859-B6DB-12BED052A1B3}" type="pres">
      <dgm:prSet presAssocID="{CB886C17-7392-49DA-9F27-D3F4B4A7DC06}" presName="textRect" presStyleLbl="revTx" presStyleIdx="2" presStyleCnt="3">
        <dgm:presLayoutVars>
          <dgm:chMax val="1"/>
          <dgm:chPref val="1"/>
        </dgm:presLayoutVars>
      </dgm:prSet>
      <dgm:spPr/>
    </dgm:pt>
  </dgm:ptLst>
  <dgm:cxnLst>
    <dgm:cxn modelId="{105A9C07-2C97-4FDD-A24D-DFF255FAC3CC}" srcId="{3670C1D3-FC4E-4ECB-9E54-713C347EB659}" destId="{0EC844F6-AC9D-4B07-ADE0-4801FFE2AD3E}" srcOrd="1" destOrd="0" parTransId="{B80FE0E3-48B6-4477-940E-9D2290781117}" sibTransId="{1B323F58-D3C8-489C-BBE2-20B65C95030B}"/>
    <dgm:cxn modelId="{394BCF28-71D7-4A84-A174-CCC3495AB65F}" type="presOf" srcId="{317A6B59-519B-43E0-BBBE-8DE9F622AC40}" destId="{82F0133C-AD6A-4A84-9352-8387F2433F86}" srcOrd="0" destOrd="0" presId="urn:microsoft.com/office/officeart/2018/2/layout/IconCircleList"/>
    <dgm:cxn modelId="{66DAE161-053F-4C0F-889C-31B8917376A3}" srcId="{3670C1D3-FC4E-4ECB-9E54-713C347EB659}" destId="{CB886C17-7392-49DA-9F27-D3F4B4A7DC06}" srcOrd="2" destOrd="0" parTransId="{1E506F62-1997-4225-97CC-F685C6175D25}" sibTransId="{55418C9B-5C91-4C81-804F-12C483516B4B}"/>
    <dgm:cxn modelId="{2F331D7C-2F69-4A3D-9844-A75AEFFF78B8}" srcId="{3670C1D3-FC4E-4ECB-9E54-713C347EB659}" destId="{317A6B59-519B-43E0-BBBE-8DE9F622AC40}" srcOrd="0" destOrd="0" parTransId="{36448F55-3963-4DED-802D-0B0BB4A59F83}" sibTransId="{ADEEEF9E-0C47-46D1-8F50-3BF9149D01D1}"/>
    <dgm:cxn modelId="{ACD7DB8C-D8E8-4FAD-891E-6159B080BE1D}" type="presOf" srcId="{ADEEEF9E-0C47-46D1-8F50-3BF9149D01D1}" destId="{8C76E4EE-312C-4FC8-85A1-92A4138E2B11}" srcOrd="0" destOrd="0" presId="urn:microsoft.com/office/officeart/2018/2/layout/IconCircleList"/>
    <dgm:cxn modelId="{6B1F2E99-E1C3-4FC4-AB04-97064E6879F0}" type="presOf" srcId="{3670C1D3-FC4E-4ECB-9E54-713C347EB659}" destId="{89043298-CBD6-4661-A751-BCA7058FB77F}" srcOrd="0" destOrd="0" presId="urn:microsoft.com/office/officeart/2018/2/layout/IconCircleList"/>
    <dgm:cxn modelId="{68A0DBA5-CADF-49C6-B139-A4828C482F12}" type="presOf" srcId="{1B323F58-D3C8-489C-BBE2-20B65C95030B}" destId="{8CCE485A-97D5-4A37-AFC3-63500CBE8C0A}" srcOrd="0" destOrd="0" presId="urn:microsoft.com/office/officeart/2018/2/layout/IconCircleList"/>
    <dgm:cxn modelId="{FA821DD3-86C0-4077-90F5-397936C1F1B9}" type="presOf" srcId="{0EC844F6-AC9D-4B07-ADE0-4801FFE2AD3E}" destId="{9EE9FCED-6AAF-493E-8CD6-B6BD348E321E}" srcOrd="0" destOrd="0" presId="urn:microsoft.com/office/officeart/2018/2/layout/IconCircleList"/>
    <dgm:cxn modelId="{20DF4BE9-F4D6-481C-8129-381A98F734DB}" type="presOf" srcId="{CB886C17-7392-49DA-9F27-D3F4B4A7DC06}" destId="{62EC230D-F946-4859-B6DB-12BED052A1B3}" srcOrd="0" destOrd="0" presId="urn:microsoft.com/office/officeart/2018/2/layout/IconCircleList"/>
    <dgm:cxn modelId="{DBD59DF1-B50E-4DBE-A355-7AF3381B164F}" type="presParOf" srcId="{89043298-CBD6-4661-A751-BCA7058FB77F}" destId="{AD0FFE81-BC5F-43AB-8736-66B5E2BBEC16}" srcOrd="0" destOrd="0" presId="urn:microsoft.com/office/officeart/2018/2/layout/IconCircleList"/>
    <dgm:cxn modelId="{EC8FE835-9941-4288-A1AB-2EF43A94B889}" type="presParOf" srcId="{AD0FFE81-BC5F-43AB-8736-66B5E2BBEC16}" destId="{C15A6C23-FAA1-4CCE-B741-E026B513B849}" srcOrd="0" destOrd="0" presId="urn:microsoft.com/office/officeart/2018/2/layout/IconCircleList"/>
    <dgm:cxn modelId="{8F860C59-D8E4-436B-9679-166A4ABF5352}" type="presParOf" srcId="{C15A6C23-FAA1-4CCE-B741-E026B513B849}" destId="{D39739D0-87A5-474F-A8BE-3C8B911496C8}" srcOrd="0" destOrd="0" presId="urn:microsoft.com/office/officeart/2018/2/layout/IconCircleList"/>
    <dgm:cxn modelId="{070E146A-4C10-4257-B59B-BF1CF8C22F1A}" type="presParOf" srcId="{C15A6C23-FAA1-4CCE-B741-E026B513B849}" destId="{04DA5AA3-6877-4E4E-ABA6-F5FD2F6A7EC3}" srcOrd="1" destOrd="0" presId="urn:microsoft.com/office/officeart/2018/2/layout/IconCircleList"/>
    <dgm:cxn modelId="{9424DDB7-4155-46A1-A505-B21BCA1621E0}" type="presParOf" srcId="{C15A6C23-FAA1-4CCE-B741-E026B513B849}" destId="{A67CEDE2-3EDA-4B4E-91A2-44F01782F74B}" srcOrd="2" destOrd="0" presId="urn:microsoft.com/office/officeart/2018/2/layout/IconCircleList"/>
    <dgm:cxn modelId="{B65FB398-CE55-4888-9873-DF4A4029F646}" type="presParOf" srcId="{C15A6C23-FAA1-4CCE-B741-E026B513B849}" destId="{82F0133C-AD6A-4A84-9352-8387F2433F86}" srcOrd="3" destOrd="0" presId="urn:microsoft.com/office/officeart/2018/2/layout/IconCircleList"/>
    <dgm:cxn modelId="{53F9FB64-F504-4AEE-8384-A1B625951F67}" type="presParOf" srcId="{AD0FFE81-BC5F-43AB-8736-66B5E2BBEC16}" destId="{8C76E4EE-312C-4FC8-85A1-92A4138E2B11}" srcOrd="1" destOrd="0" presId="urn:microsoft.com/office/officeart/2018/2/layout/IconCircleList"/>
    <dgm:cxn modelId="{9449EC71-A7B2-4FCC-A0B3-9BCBAB3C36A3}" type="presParOf" srcId="{AD0FFE81-BC5F-43AB-8736-66B5E2BBEC16}" destId="{9B5E5EA6-A89F-468F-A4ED-BD63D47F2389}" srcOrd="2" destOrd="0" presId="urn:microsoft.com/office/officeart/2018/2/layout/IconCircleList"/>
    <dgm:cxn modelId="{B01766F5-3E28-45BA-95A4-BCEC39A116C5}" type="presParOf" srcId="{9B5E5EA6-A89F-468F-A4ED-BD63D47F2389}" destId="{8FB54917-AE5D-435F-9596-21E0E36404F4}" srcOrd="0" destOrd="0" presId="urn:microsoft.com/office/officeart/2018/2/layout/IconCircleList"/>
    <dgm:cxn modelId="{EE3C6548-9142-4E11-9ED9-4C081C387CBA}" type="presParOf" srcId="{9B5E5EA6-A89F-468F-A4ED-BD63D47F2389}" destId="{6F4C1823-0063-4E11-8A90-4C9EE49CA3D2}" srcOrd="1" destOrd="0" presId="urn:microsoft.com/office/officeart/2018/2/layout/IconCircleList"/>
    <dgm:cxn modelId="{267FB5F2-61D4-4CBE-9BE2-06FF3EDC6ABA}" type="presParOf" srcId="{9B5E5EA6-A89F-468F-A4ED-BD63D47F2389}" destId="{A3B020F3-8319-4CF4-9F06-3D510211B9CB}" srcOrd="2" destOrd="0" presId="urn:microsoft.com/office/officeart/2018/2/layout/IconCircleList"/>
    <dgm:cxn modelId="{6F0D7727-9F86-4311-9FDC-1A80AFF290DF}" type="presParOf" srcId="{9B5E5EA6-A89F-468F-A4ED-BD63D47F2389}" destId="{9EE9FCED-6AAF-493E-8CD6-B6BD348E321E}" srcOrd="3" destOrd="0" presId="urn:microsoft.com/office/officeart/2018/2/layout/IconCircleList"/>
    <dgm:cxn modelId="{0E73F7AF-D67B-4728-AA11-5A69934D86E3}" type="presParOf" srcId="{AD0FFE81-BC5F-43AB-8736-66B5E2BBEC16}" destId="{8CCE485A-97D5-4A37-AFC3-63500CBE8C0A}" srcOrd="3" destOrd="0" presId="urn:microsoft.com/office/officeart/2018/2/layout/IconCircleList"/>
    <dgm:cxn modelId="{D6757DB6-4434-4832-B03D-BDC457A07C65}" type="presParOf" srcId="{AD0FFE81-BC5F-43AB-8736-66B5E2BBEC16}" destId="{1F23A3FD-612F-4A1A-BF00-0B686358F38B}" srcOrd="4" destOrd="0" presId="urn:microsoft.com/office/officeart/2018/2/layout/IconCircleList"/>
    <dgm:cxn modelId="{FB557474-ED0A-49E8-8375-9A75929E9819}" type="presParOf" srcId="{1F23A3FD-612F-4A1A-BF00-0B686358F38B}" destId="{F3A0C413-1112-4C78-A976-B99F6E95F419}" srcOrd="0" destOrd="0" presId="urn:microsoft.com/office/officeart/2018/2/layout/IconCircleList"/>
    <dgm:cxn modelId="{C47C6D0E-47C9-43E9-AF93-5E7E41C9208E}" type="presParOf" srcId="{1F23A3FD-612F-4A1A-BF00-0B686358F38B}" destId="{4CD2113F-D751-4053-8803-E9AE76078E7B}" srcOrd="1" destOrd="0" presId="urn:microsoft.com/office/officeart/2018/2/layout/IconCircleList"/>
    <dgm:cxn modelId="{63AF2997-1316-40BF-B07A-A983397109DA}" type="presParOf" srcId="{1F23A3FD-612F-4A1A-BF00-0B686358F38B}" destId="{81F3E8EE-3A2B-4B2A-88F9-028D85EAF536}" srcOrd="2" destOrd="0" presId="urn:microsoft.com/office/officeart/2018/2/layout/IconCircleList"/>
    <dgm:cxn modelId="{8AC31A00-4CF8-4E2C-96CD-4C0E847DFEA5}" type="presParOf" srcId="{1F23A3FD-612F-4A1A-BF00-0B686358F38B}" destId="{62EC230D-F946-4859-B6DB-12BED052A1B3}" srcOrd="3" destOrd="0" presId="urn:microsoft.com/office/officeart/2018/2/layout/IconCircle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B97C740-8D29-4550-8149-6F4069845D5B}" type="doc">
      <dgm:prSet loTypeId="urn:microsoft.com/office/officeart/2018/2/layout/IconLabelList" loCatId="icon" qsTypeId="urn:microsoft.com/office/officeart/2005/8/quickstyle/simple2" qsCatId="simple" csTypeId="urn:microsoft.com/office/officeart/2005/8/colors/colorful3" csCatId="colorful" phldr="1"/>
      <dgm:spPr/>
      <dgm:t>
        <a:bodyPr/>
        <a:lstStyle/>
        <a:p>
          <a:endParaRPr lang="en-US"/>
        </a:p>
      </dgm:t>
    </dgm:pt>
    <dgm:pt modelId="{E53CCBC6-3389-4855-A348-A2598357A14D}">
      <dgm:prSet/>
      <dgm:spPr/>
      <dgm:t>
        <a:bodyPr/>
        <a:lstStyle/>
        <a:p>
          <a:pPr>
            <a:lnSpc>
              <a:spcPct val="100000"/>
            </a:lnSpc>
          </a:pPr>
          <a:r>
            <a:rPr lang="en-GB"/>
            <a:t>Alkaline Water Electrolysis (AWE),</a:t>
          </a:r>
          <a:endParaRPr lang="en-US"/>
        </a:p>
      </dgm:t>
    </dgm:pt>
    <dgm:pt modelId="{0144F3AF-E0B2-473A-8584-EB68C2D819D1}" type="parTrans" cxnId="{03A4FF0B-2DF7-436C-B8E6-8D04564A2E0B}">
      <dgm:prSet/>
      <dgm:spPr/>
      <dgm:t>
        <a:bodyPr/>
        <a:lstStyle/>
        <a:p>
          <a:endParaRPr lang="en-US"/>
        </a:p>
      </dgm:t>
    </dgm:pt>
    <dgm:pt modelId="{980CDA11-C4E6-4964-BF81-1162D4738451}" type="sibTrans" cxnId="{03A4FF0B-2DF7-436C-B8E6-8D04564A2E0B}">
      <dgm:prSet/>
      <dgm:spPr/>
      <dgm:t>
        <a:bodyPr/>
        <a:lstStyle/>
        <a:p>
          <a:endParaRPr lang="en-US"/>
        </a:p>
      </dgm:t>
    </dgm:pt>
    <dgm:pt modelId="{F09A897E-0D22-40DC-84CB-065F1C903823}">
      <dgm:prSet/>
      <dgm:spPr/>
      <dgm:t>
        <a:bodyPr/>
        <a:lstStyle/>
        <a:p>
          <a:pPr>
            <a:lnSpc>
              <a:spcPct val="100000"/>
            </a:lnSpc>
          </a:pPr>
          <a:r>
            <a:rPr lang="en-GB"/>
            <a:t>Polymer Electrolyte Membrane Water Electrolysis (PEMWE)</a:t>
          </a:r>
          <a:endParaRPr lang="en-US"/>
        </a:p>
      </dgm:t>
    </dgm:pt>
    <dgm:pt modelId="{F9A8D9C9-EFB8-429F-9E70-7875FCED8386}" type="parTrans" cxnId="{CCCEA748-736E-42E1-BD92-F541A364CA7A}">
      <dgm:prSet/>
      <dgm:spPr/>
      <dgm:t>
        <a:bodyPr/>
        <a:lstStyle/>
        <a:p>
          <a:endParaRPr lang="en-US"/>
        </a:p>
      </dgm:t>
    </dgm:pt>
    <dgm:pt modelId="{DB3965B2-A659-4385-9E67-02CE489142C3}" type="sibTrans" cxnId="{CCCEA748-736E-42E1-BD92-F541A364CA7A}">
      <dgm:prSet/>
      <dgm:spPr/>
      <dgm:t>
        <a:bodyPr/>
        <a:lstStyle/>
        <a:p>
          <a:endParaRPr lang="en-US"/>
        </a:p>
      </dgm:t>
    </dgm:pt>
    <dgm:pt modelId="{3F2E71BF-B6AC-477E-A842-085BB08D24D7}">
      <dgm:prSet/>
      <dgm:spPr/>
      <dgm:t>
        <a:bodyPr/>
        <a:lstStyle/>
        <a:p>
          <a:pPr>
            <a:lnSpc>
              <a:spcPct val="100000"/>
            </a:lnSpc>
          </a:pPr>
          <a:r>
            <a:rPr lang="en-GB"/>
            <a:t>Solid Oxide Electrolysis Cells (SOEC)</a:t>
          </a:r>
          <a:endParaRPr lang="en-US"/>
        </a:p>
      </dgm:t>
    </dgm:pt>
    <dgm:pt modelId="{79F9E6AC-42DF-47A7-B472-CE3148668285}" type="parTrans" cxnId="{FA10D082-A231-4A79-88CC-28650F79E529}">
      <dgm:prSet/>
      <dgm:spPr/>
      <dgm:t>
        <a:bodyPr/>
        <a:lstStyle/>
        <a:p>
          <a:endParaRPr lang="en-US"/>
        </a:p>
      </dgm:t>
    </dgm:pt>
    <dgm:pt modelId="{38D23371-2540-44F4-B159-0BF3E348F7D4}" type="sibTrans" cxnId="{FA10D082-A231-4A79-88CC-28650F79E529}">
      <dgm:prSet/>
      <dgm:spPr/>
      <dgm:t>
        <a:bodyPr/>
        <a:lstStyle/>
        <a:p>
          <a:endParaRPr lang="en-US"/>
        </a:p>
      </dgm:t>
    </dgm:pt>
    <dgm:pt modelId="{9FA0F05F-E603-4A8F-B434-23BE1FE79C72}">
      <dgm:prSet/>
      <dgm:spPr/>
      <dgm:t>
        <a:bodyPr/>
        <a:lstStyle/>
        <a:p>
          <a:pPr>
            <a:lnSpc>
              <a:spcPct val="100000"/>
            </a:lnSpc>
          </a:pPr>
          <a:r>
            <a:rPr lang="en-GB"/>
            <a:t>Microbial Electrolysis Cells (MEC) </a:t>
          </a:r>
          <a:endParaRPr lang="en-US"/>
        </a:p>
      </dgm:t>
    </dgm:pt>
    <dgm:pt modelId="{CCEF7891-375A-487D-82D8-4C96FC142A5C}" type="parTrans" cxnId="{7FFF51E8-AD8C-4B5F-887A-99118BC23A32}">
      <dgm:prSet/>
      <dgm:spPr/>
      <dgm:t>
        <a:bodyPr/>
        <a:lstStyle/>
        <a:p>
          <a:endParaRPr lang="en-US"/>
        </a:p>
      </dgm:t>
    </dgm:pt>
    <dgm:pt modelId="{335AA397-8F49-49B3-99A3-9224642C5C82}" type="sibTrans" cxnId="{7FFF51E8-AD8C-4B5F-887A-99118BC23A32}">
      <dgm:prSet/>
      <dgm:spPr/>
      <dgm:t>
        <a:bodyPr/>
        <a:lstStyle/>
        <a:p>
          <a:endParaRPr lang="en-US"/>
        </a:p>
      </dgm:t>
    </dgm:pt>
    <dgm:pt modelId="{32B15C11-FCFF-4980-A948-C37D932BDB21}" type="pres">
      <dgm:prSet presAssocID="{EB97C740-8D29-4550-8149-6F4069845D5B}" presName="root" presStyleCnt="0">
        <dgm:presLayoutVars>
          <dgm:dir/>
          <dgm:resizeHandles val="exact"/>
        </dgm:presLayoutVars>
      </dgm:prSet>
      <dgm:spPr/>
    </dgm:pt>
    <dgm:pt modelId="{B57AC7B0-09D3-4EAD-8FC0-F8BC9E28E3E4}" type="pres">
      <dgm:prSet presAssocID="{E53CCBC6-3389-4855-A348-A2598357A14D}" presName="compNode" presStyleCnt="0"/>
      <dgm:spPr/>
    </dgm:pt>
    <dgm:pt modelId="{14EC6E03-128A-45D9-B5E7-1A487B2DADF5}" type="pres">
      <dgm:prSet presAssocID="{E53CCBC6-3389-4855-A348-A2598357A14D}" presName="iconRect" presStyleLbl="node1" presStyleIdx="0" presStyleCnt="4"/>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dgm:spPr>
      <dgm:extLst>
        <a:ext uri="{E40237B7-FDA0-4F09-8148-C483321AD2D9}">
          <dgm14:cNvPr xmlns:dgm14="http://schemas.microsoft.com/office/drawing/2010/diagram" id="0" name="" descr="Beaker with solid fill"/>
        </a:ext>
      </dgm:extLst>
    </dgm:pt>
    <dgm:pt modelId="{777FEABE-309F-485E-BD03-7E93CB08C304}" type="pres">
      <dgm:prSet presAssocID="{E53CCBC6-3389-4855-A348-A2598357A14D}" presName="spaceRect" presStyleCnt="0"/>
      <dgm:spPr/>
    </dgm:pt>
    <dgm:pt modelId="{F2ABA701-7F12-43B2-AAA8-1A5C3E61BC64}" type="pres">
      <dgm:prSet presAssocID="{E53CCBC6-3389-4855-A348-A2598357A14D}" presName="textRect" presStyleLbl="revTx" presStyleIdx="0" presStyleCnt="4">
        <dgm:presLayoutVars>
          <dgm:chMax val="1"/>
          <dgm:chPref val="1"/>
        </dgm:presLayoutVars>
      </dgm:prSet>
      <dgm:spPr/>
    </dgm:pt>
    <dgm:pt modelId="{EB6E2609-AAEC-44E4-9FD8-7F1BEDF3E57A}" type="pres">
      <dgm:prSet presAssocID="{980CDA11-C4E6-4964-BF81-1162D4738451}" presName="sibTrans" presStyleCnt="0"/>
      <dgm:spPr/>
    </dgm:pt>
    <dgm:pt modelId="{26EB088A-6354-4764-B1C4-06F604162BBA}" type="pres">
      <dgm:prSet presAssocID="{F09A897E-0D22-40DC-84CB-065F1C903823}" presName="compNode" presStyleCnt="0"/>
      <dgm:spPr/>
    </dgm:pt>
    <dgm:pt modelId="{0A78C099-B148-4A40-B4D9-20AB10813627}" type="pres">
      <dgm:prSet presAssocID="{F09A897E-0D22-40DC-84CB-065F1C903823}" presName="iconRect" presStyleLbl="node1" presStyleIdx="1" presStyleCnt="4"/>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dgm:spPr>
      <dgm:extLst>
        <a:ext uri="{E40237B7-FDA0-4F09-8148-C483321AD2D9}">
          <dgm14:cNvPr xmlns:dgm14="http://schemas.microsoft.com/office/drawing/2010/diagram" id="0" name="" descr="Germ with solid fill"/>
        </a:ext>
      </dgm:extLst>
    </dgm:pt>
    <dgm:pt modelId="{085BEFEC-BBE4-4F55-9555-3E86304A23A8}" type="pres">
      <dgm:prSet presAssocID="{F09A897E-0D22-40DC-84CB-065F1C903823}" presName="spaceRect" presStyleCnt="0"/>
      <dgm:spPr/>
    </dgm:pt>
    <dgm:pt modelId="{AB796B57-7A3F-4FAB-9869-8ED61F444AB0}" type="pres">
      <dgm:prSet presAssocID="{F09A897E-0D22-40DC-84CB-065F1C903823}" presName="textRect" presStyleLbl="revTx" presStyleIdx="1" presStyleCnt="4">
        <dgm:presLayoutVars>
          <dgm:chMax val="1"/>
          <dgm:chPref val="1"/>
        </dgm:presLayoutVars>
      </dgm:prSet>
      <dgm:spPr/>
    </dgm:pt>
    <dgm:pt modelId="{648A3C57-D665-43B1-B57E-03FAB5156577}" type="pres">
      <dgm:prSet presAssocID="{DB3965B2-A659-4385-9E67-02CE489142C3}" presName="sibTrans" presStyleCnt="0"/>
      <dgm:spPr/>
    </dgm:pt>
    <dgm:pt modelId="{C0AD2A25-ECA1-48B5-8757-8E487AAB925E}" type="pres">
      <dgm:prSet presAssocID="{3F2E71BF-B6AC-477E-A842-085BB08D24D7}" presName="compNode" presStyleCnt="0"/>
      <dgm:spPr/>
    </dgm:pt>
    <dgm:pt modelId="{C8DD2619-88B3-4336-A680-23F2399BA6BE}" type="pres">
      <dgm:prSet presAssocID="{3F2E71BF-B6AC-477E-A842-085BB08D24D7}"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Atom"/>
        </a:ext>
      </dgm:extLst>
    </dgm:pt>
    <dgm:pt modelId="{CC739FF0-2679-4A49-96EF-43A9E138964C}" type="pres">
      <dgm:prSet presAssocID="{3F2E71BF-B6AC-477E-A842-085BB08D24D7}" presName="spaceRect" presStyleCnt="0"/>
      <dgm:spPr/>
    </dgm:pt>
    <dgm:pt modelId="{6A78B590-6D6D-489F-87C9-6D13DA16DE3A}" type="pres">
      <dgm:prSet presAssocID="{3F2E71BF-B6AC-477E-A842-085BB08D24D7}" presName="textRect" presStyleLbl="revTx" presStyleIdx="2" presStyleCnt="4">
        <dgm:presLayoutVars>
          <dgm:chMax val="1"/>
          <dgm:chPref val="1"/>
        </dgm:presLayoutVars>
      </dgm:prSet>
      <dgm:spPr/>
    </dgm:pt>
    <dgm:pt modelId="{15E726D6-6F3B-4554-A892-DA441E662361}" type="pres">
      <dgm:prSet presAssocID="{38D23371-2540-44F4-B159-0BF3E348F7D4}" presName="sibTrans" presStyleCnt="0"/>
      <dgm:spPr/>
    </dgm:pt>
    <dgm:pt modelId="{06B9F873-27D1-4DC9-A4F4-C986953CCADC}" type="pres">
      <dgm:prSet presAssocID="{9FA0F05F-E603-4A8F-B434-23BE1FE79C72}" presName="compNode" presStyleCnt="0"/>
      <dgm:spPr/>
    </dgm:pt>
    <dgm:pt modelId="{2DFEDFEE-0869-4010-88CE-5D0DFA945DE6}" type="pres">
      <dgm:prSet presAssocID="{9FA0F05F-E603-4A8F-B434-23BE1FE79C72}" presName="iconRect" presStyleLbl="node1" presStyleIdx="3" presStyleCnt="4"/>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dgm:spPr>
      <dgm:extLst>
        <a:ext uri="{E40237B7-FDA0-4F09-8148-C483321AD2D9}">
          <dgm14:cNvPr xmlns:dgm14="http://schemas.microsoft.com/office/drawing/2010/diagram" id="0" name="" descr="Covid-19 with solid fill"/>
        </a:ext>
      </dgm:extLst>
    </dgm:pt>
    <dgm:pt modelId="{C19E00BA-2351-4835-9B9F-EBA65A7A91FB}" type="pres">
      <dgm:prSet presAssocID="{9FA0F05F-E603-4A8F-B434-23BE1FE79C72}" presName="spaceRect" presStyleCnt="0"/>
      <dgm:spPr/>
    </dgm:pt>
    <dgm:pt modelId="{E34BDC2E-6061-435A-9763-916067835F2C}" type="pres">
      <dgm:prSet presAssocID="{9FA0F05F-E603-4A8F-B434-23BE1FE79C72}" presName="textRect" presStyleLbl="revTx" presStyleIdx="3" presStyleCnt="4">
        <dgm:presLayoutVars>
          <dgm:chMax val="1"/>
          <dgm:chPref val="1"/>
        </dgm:presLayoutVars>
      </dgm:prSet>
      <dgm:spPr/>
    </dgm:pt>
  </dgm:ptLst>
  <dgm:cxnLst>
    <dgm:cxn modelId="{03A4FF0B-2DF7-436C-B8E6-8D04564A2E0B}" srcId="{EB97C740-8D29-4550-8149-6F4069845D5B}" destId="{E53CCBC6-3389-4855-A348-A2598357A14D}" srcOrd="0" destOrd="0" parTransId="{0144F3AF-E0B2-473A-8584-EB68C2D819D1}" sibTransId="{980CDA11-C4E6-4964-BF81-1162D4738451}"/>
    <dgm:cxn modelId="{CF4A735F-DF11-4BBB-B5BD-9BC313872510}" type="presOf" srcId="{9FA0F05F-E603-4A8F-B434-23BE1FE79C72}" destId="{E34BDC2E-6061-435A-9763-916067835F2C}" srcOrd="0" destOrd="0" presId="urn:microsoft.com/office/officeart/2018/2/layout/IconLabelList"/>
    <dgm:cxn modelId="{CCCEA748-736E-42E1-BD92-F541A364CA7A}" srcId="{EB97C740-8D29-4550-8149-6F4069845D5B}" destId="{F09A897E-0D22-40DC-84CB-065F1C903823}" srcOrd="1" destOrd="0" parTransId="{F9A8D9C9-EFB8-429F-9E70-7875FCED8386}" sibTransId="{DB3965B2-A659-4385-9E67-02CE489142C3}"/>
    <dgm:cxn modelId="{170EEA49-6691-4F1C-9AAD-68801CE45C2D}" type="presOf" srcId="{E53CCBC6-3389-4855-A348-A2598357A14D}" destId="{F2ABA701-7F12-43B2-AAA8-1A5C3E61BC64}" srcOrd="0" destOrd="0" presId="urn:microsoft.com/office/officeart/2018/2/layout/IconLabelList"/>
    <dgm:cxn modelId="{61B5BE76-65C2-4CF9-8953-7EE8265B29A0}" type="presOf" srcId="{F09A897E-0D22-40DC-84CB-065F1C903823}" destId="{AB796B57-7A3F-4FAB-9869-8ED61F444AB0}" srcOrd="0" destOrd="0" presId="urn:microsoft.com/office/officeart/2018/2/layout/IconLabelList"/>
    <dgm:cxn modelId="{FA10D082-A231-4A79-88CC-28650F79E529}" srcId="{EB97C740-8D29-4550-8149-6F4069845D5B}" destId="{3F2E71BF-B6AC-477E-A842-085BB08D24D7}" srcOrd="2" destOrd="0" parTransId="{79F9E6AC-42DF-47A7-B472-CE3148668285}" sibTransId="{38D23371-2540-44F4-B159-0BF3E348F7D4}"/>
    <dgm:cxn modelId="{3C8864D6-A626-4F99-9E7D-0398AAFDD6B0}" type="presOf" srcId="{3F2E71BF-B6AC-477E-A842-085BB08D24D7}" destId="{6A78B590-6D6D-489F-87C9-6D13DA16DE3A}" srcOrd="0" destOrd="0" presId="urn:microsoft.com/office/officeart/2018/2/layout/IconLabelList"/>
    <dgm:cxn modelId="{7FFF51E8-AD8C-4B5F-887A-99118BC23A32}" srcId="{EB97C740-8D29-4550-8149-6F4069845D5B}" destId="{9FA0F05F-E603-4A8F-B434-23BE1FE79C72}" srcOrd="3" destOrd="0" parTransId="{CCEF7891-375A-487D-82D8-4C96FC142A5C}" sibTransId="{335AA397-8F49-49B3-99A3-9224642C5C82}"/>
    <dgm:cxn modelId="{200A67FF-F22D-4E67-A272-E9106B8D2C37}" type="presOf" srcId="{EB97C740-8D29-4550-8149-6F4069845D5B}" destId="{32B15C11-FCFF-4980-A948-C37D932BDB21}" srcOrd="0" destOrd="0" presId="urn:microsoft.com/office/officeart/2018/2/layout/IconLabelList"/>
    <dgm:cxn modelId="{71C11176-A038-4445-9498-26982BC83E45}" type="presParOf" srcId="{32B15C11-FCFF-4980-A948-C37D932BDB21}" destId="{B57AC7B0-09D3-4EAD-8FC0-F8BC9E28E3E4}" srcOrd="0" destOrd="0" presId="urn:microsoft.com/office/officeart/2018/2/layout/IconLabelList"/>
    <dgm:cxn modelId="{C5FF4B83-9739-468B-B136-52B6A165B207}" type="presParOf" srcId="{B57AC7B0-09D3-4EAD-8FC0-F8BC9E28E3E4}" destId="{14EC6E03-128A-45D9-B5E7-1A487B2DADF5}" srcOrd="0" destOrd="0" presId="urn:microsoft.com/office/officeart/2018/2/layout/IconLabelList"/>
    <dgm:cxn modelId="{A0D6805F-7063-4245-B0E8-4BE1C0C71BDC}" type="presParOf" srcId="{B57AC7B0-09D3-4EAD-8FC0-F8BC9E28E3E4}" destId="{777FEABE-309F-485E-BD03-7E93CB08C304}" srcOrd="1" destOrd="0" presId="urn:microsoft.com/office/officeart/2018/2/layout/IconLabelList"/>
    <dgm:cxn modelId="{71706C4A-3EA5-4631-8ED8-EF8F1DF4B470}" type="presParOf" srcId="{B57AC7B0-09D3-4EAD-8FC0-F8BC9E28E3E4}" destId="{F2ABA701-7F12-43B2-AAA8-1A5C3E61BC64}" srcOrd="2" destOrd="0" presId="urn:microsoft.com/office/officeart/2018/2/layout/IconLabelList"/>
    <dgm:cxn modelId="{A861BECC-12DE-4DB0-BDA6-C218F0EB27B9}" type="presParOf" srcId="{32B15C11-FCFF-4980-A948-C37D932BDB21}" destId="{EB6E2609-AAEC-44E4-9FD8-7F1BEDF3E57A}" srcOrd="1" destOrd="0" presId="urn:microsoft.com/office/officeart/2018/2/layout/IconLabelList"/>
    <dgm:cxn modelId="{60428817-C6C2-4964-940B-AE3A7C0F3937}" type="presParOf" srcId="{32B15C11-FCFF-4980-A948-C37D932BDB21}" destId="{26EB088A-6354-4764-B1C4-06F604162BBA}" srcOrd="2" destOrd="0" presId="urn:microsoft.com/office/officeart/2018/2/layout/IconLabelList"/>
    <dgm:cxn modelId="{8E843B5E-7986-4561-8CB6-43D69A308D85}" type="presParOf" srcId="{26EB088A-6354-4764-B1C4-06F604162BBA}" destId="{0A78C099-B148-4A40-B4D9-20AB10813627}" srcOrd="0" destOrd="0" presId="urn:microsoft.com/office/officeart/2018/2/layout/IconLabelList"/>
    <dgm:cxn modelId="{1DC66308-DB01-4BD6-A45A-CAE356751320}" type="presParOf" srcId="{26EB088A-6354-4764-B1C4-06F604162BBA}" destId="{085BEFEC-BBE4-4F55-9555-3E86304A23A8}" srcOrd="1" destOrd="0" presId="urn:microsoft.com/office/officeart/2018/2/layout/IconLabelList"/>
    <dgm:cxn modelId="{C35FEE44-522B-47DD-AB92-DBCBEA166CA5}" type="presParOf" srcId="{26EB088A-6354-4764-B1C4-06F604162BBA}" destId="{AB796B57-7A3F-4FAB-9869-8ED61F444AB0}" srcOrd="2" destOrd="0" presId="urn:microsoft.com/office/officeart/2018/2/layout/IconLabelList"/>
    <dgm:cxn modelId="{8693F00A-EDB2-4F80-93CC-648DAE9BD2DA}" type="presParOf" srcId="{32B15C11-FCFF-4980-A948-C37D932BDB21}" destId="{648A3C57-D665-43B1-B57E-03FAB5156577}" srcOrd="3" destOrd="0" presId="urn:microsoft.com/office/officeart/2018/2/layout/IconLabelList"/>
    <dgm:cxn modelId="{65E9209B-F0C6-4398-A7E7-41C039A4BC80}" type="presParOf" srcId="{32B15C11-FCFF-4980-A948-C37D932BDB21}" destId="{C0AD2A25-ECA1-48B5-8757-8E487AAB925E}" srcOrd="4" destOrd="0" presId="urn:microsoft.com/office/officeart/2018/2/layout/IconLabelList"/>
    <dgm:cxn modelId="{8309F6CA-4D3D-4F53-9E95-200A43311081}" type="presParOf" srcId="{C0AD2A25-ECA1-48B5-8757-8E487AAB925E}" destId="{C8DD2619-88B3-4336-A680-23F2399BA6BE}" srcOrd="0" destOrd="0" presId="urn:microsoft.com/office/officeart/2018/2/layout/IconLabelList"/>
    <dgm:cxn modelId="{1273B199-7FCB-4094-9D3C-6A750B22F532}" type="presParOf" srcId="{C0AD2A25-ECA1-48B5-8757-8E487AAB925E}" destId="{CC739FF0-2679-4A49-96EF-43A9E138964C}" srcOrd="1" destOrd="0" presId="urn:microsoft.com/office/officeart/2018/2/layout/IconLabelList"/>
    <dgm:cxn modelId="{6202B1CF-5BB2-4362-9F11-B640E0F3C5D5}" type="presParOf" srcId="{C0AD2A25-ECA1-48B5-8757-8E487AAB925E}" destId="{6A78B590-6D6D-489F-87C9-6D13DA16DE3A}" srcOrd="2" destOrd="0" presId="urn:microsoft.com/office/officeart/2018/2/layout/IconLabelList"/>
    <dgm:cxn modelId="{0172273C-74B8-46F9-8099-35ADA07B888B}" type="presParOf" srcId="{32B15C11-FCFF-4980-A948-C37D932BDB21}" destId="{15E726D6-6F3B-4554-A892-DA441E662361}" srcOrd="5" destOrd="0" presId="urn:microsoft.com/office/officeart/2018/2/layout/IconLabelList"/>
    <dgm:cxn modelId="{278B9D22-A671-4DE3-AD7E-B8ABF9ADFF05}" type="presParOf" srcId="{32B15C11-FCFF-4980-A948-C37D932BDB21}" destId="{06B9F873-27D1-4DC9-A4F4-C986953CCADC}" srcOrd="6" destOrd="0" presId="urn:microsoft.com/office/officeart/2018/2/layout/IconLabelList"/>
    <dgm:cxn modelId="{1EB58980-65A7-47A5-A100-64D80C075D4B}" type="presParOf" srcId="{06B9F873-27D1-4DC9-A4F4-C986953CCADC}" destId="{2DFEDFEE-0869-4010-88CE-5D0DFA945DE6}" srcOrd="0" destOrd="0" presId="urn:microsoft.com/office/officeart/2018/2/layout/IconLabelList"/>
    <dgm:cxn modelId="{8C650546-3B60-4C50-8B3C-0336ADC8F15D}" type="presParOf" srcId="{06B9F873-27D1-4DC9-A4F4-C986953CCADC}" destId="{C19E00BA-2351-4835-9B9F-EBA65A7A91FB}" srcOrd="1" destOrd="0" presId="urn:microsoft.com/office/officeart/2018/2/layout/IconLabelList"/>
    <dgm:cxn modelId="{C0CCF2C5-618C-4F98-B835-3219EA65B39E}" type="presParOf" srcId="{06B9F873-27D1-4DC9-A4F4-C986953CCADC}" destId="{E34BDC2E-6061-435A-9763-916067835F2C}"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B97C740-8D29-4550-8149-6F4069845D5B}" type="doc">
      <dgm:prSet loTypeId="urn:microsoft.com/office/officeart/2018/5/layout/IconLeafLabelList" loCatId="icon" qsTypeId="urn:microsoft.com/office/officeart/2005/8/quickstyle/simple2" qsCatId="simple" csTypeId="urn:microsoft.com/office/officeart/2005/8/colors/colorful1" csCatId="colorful" phldr="1"/>
      <dgm:spPr/>
      <dgm:t>
        <a:bodyPr/>
        <a:lstStyle/>
        <a:p>
          <a:endParaRPr lang="en-US"/>
        </a:p>
      </dgm:t>
    </dgm:pt>
    <dgm:pt modelId="{E53CCBC6-3389-4855-A348-A2598357A14D}">
      <dgm:prSet/>
      <dgm:spPr/>
      <dgm:t>
        <a:bodyPr/>
        <a:lstStyle/>
        <a:p>
          <a:pPr>
            <a:lnSpc>
              <a:spcPct val="100000"/>
            </a:lnSpc>
            <a:defRPr cap="all"/>
          </a:pPr>
          <a:r>
            <a:rPr lang="en-US" dirty="0"/>
            <a:t>Combustion 286 kJ/mol</a:t>
          </a:r>
        </a:p>
      </dgm:t>
    </dgm:pt>
    <dgm:pt modelId="{0144F3AF-E0B2-473A-8584-EB68C2D819D1}" type="parTrans" cxnId="{03A4FF0B-2DF7-436C-B8E6-8D04564A2E0B}">
      <dgm:prSet/>
      <dgm:spPr/>
      <dgm:t>
        <a:bodyPr/>
        <a:lstStyle/>
        <a:p>
          <a:endParaRPr lang="en-US"/>
        </a:p>
      </dgm:t>
    </dgm:pt>
    <dgm:pt modelId="{980CDA11-C4E6-4964-BF81-1162D4738451}" type="sibTrans" cxnId="{03A4FF0B-2DF7-436C-B8E6-8D04564A2E0B}">
      <dgm:prSet/>
      <dgm:spPr/>
      <dgm:t>
        <a:bodyPr/>
        <a:lstStyle/>
        <a:p>
          <a:endParaRPr lang="en-US"/>
        </a:p>
      </dgm:t>
    </dgm:pt>
    <dgm:pt modelId="{F09A897E-0D22-40DC-84CB-065F1C903823}">
      <dgm:prSet/>
      <dgm:spPr/>
      <dgm:t>
        <a:bodyPr/>
        <a:lstStyle/>
        <a:p>
          <a:pPr>
            <a:lnSpc>
              <a:spcPct val="100000"/>
            </a:lnSpc>
            <a:defRPr cap="all"/>
          </a:pPr>
          <a:r>
            <a:rPr lang="en-US" dirty="0"/>
            <a:t>H2-ICE 55% mechanical efficiency</a:t>
          </a:r>
          <a:r>
            <a:rPr lang="en-GB" dirty="0"/>
            <a:t>)</a:t>
          </a:r>
          <a:endParaRPr lang="en-US" dirty="0"/>
        </a:p>
      </dgm:t>
    </dgm:pt>
    <dgm:pt modelId="{F9A8D9C9-EFB8-429F-9E70-7875FCED8386}" type="parTrans" cxnId="{CCCEA748-736E-42E1-BD92-F541A364CA7A}">
      <dgm:prSet/>
      <dgm:spPr/>
      <dgm:t>
        <a:bodyPr/>
        <a:lstStyle/>
        <a:p>
          <a:endParaRPr lang="en-US"/>
        </a:p>
      </dgm:t>
    </dgm:pt>
    <dgm:pt modelId="{DB3965B2-A659-4385-9E67-02CE489142C3}" type="sibTrans" cxnId="{CCCEA748-736E-42E1-BD92-F541A364CA7A}">
      <dgm:prSet/>
      <dgm:spPr/>
      <dgm:t>
        <a:bodyPr/>
        <a:lstStyle/>
        <a:p>
          <a:endParaRPr lang="en-US"/>
        </a:p>
      </dgm:t>
    </dgm:pt>
    <dgm:pt modelId="{3F2E71BF-B6AC-477E-A842-085BB08D24D7}">
      <dgm:prSet/>
      <dgm:spPr/>
      <dgm:t>
        <a:bodyPr/>
        <a:lstStyle/>
        <a:p>
          <a:pPr>
            <a:lnSpc>
              <a:spcPct val="100000"/>
            </a:lnSpc>
            <a:defRPr cap="all"/>
          </a:pPr>
          <a:r>
            <a:rPr lang="en-US" dirty="0"/>
            <a:t>PEMFC: 65% electrical efficiency</a:t>
          </a:r>
        </a:p>
      </dgm:t>
    </dgm:pt>
    <dgm:pt modelId="{79F9E6AC-42DF-47A7-B472-CE3148668285}" type="parTrans" cxnId="{FA10D082-A231-4A79-88CC-28650F79E529}">
      <dgm:prSet/>
      <dgm:spPr/>
      <dgm:t>
        <a:bodyPr/>
        <a:lstStyle/>
        <a:p>
          <a:endParaRPr lang="en-US"/>
        </a:p>
      </dgm:t>
    </dgm:pt>
    <dgm:pt modelId="{38D23371-2540-44F4-B159-0BF3E348F7D4}" type="sibTrans" cxnId="{FA10D082-A231-4A79-88CC-28650F79E529}">
      <dgm:prSet/>
      <dgm:spPr/>
      <dgm:t>
        <a:bodyPr/>
        <a:lstStyle/>
        <a:p>
          <a:endParaRPr lang="en-US"/>
        </a:p>
      </dgm:t>
    </dgm:pt>
    <dgm:pt modelId="{9FA0F05F-E603-4A8F-B434-23BE1FE79C72}">
      <dgm:prSet/>
      <dgm:spPr/>
      <dgm:t>
        <a:bodyPr/>
        <a:lstStyle/>
        <a:p>
          <a:pPr>
            <a:lnSpc>
              <a:spcPct val="100000"/>
            </a:lnSpc>
            <a:defRPr cap="all"/>
          </a:pPr>
          <a:endParaRPr lang="en-US"/>
        </a:p>
      </dgm:t>
    </dgm:pt>
    <dgm:pt modelId="{CCEF7891-375A-487D-82D8-4C96FC142A5C}" type="parTrans" cxnId="{7FFF51E8-AD8C-4B5F-887A-99118BC23A32}">
      <dgm:prSet/>
      <dgm:spPr/>
      <dgm:t>
        <a:bodyPr/>
        <a:lstStyle/>
        <a:p>
          <a:endParaRPr lang="en-US"/>
        </a:p>
      </dgm:t>
    </dgm:pt>
    <dgm:pt modelId="{335AA397-8F49-49B3-99A3-9224642C5C82}" type="sibTrans" cxnId="{7FFF51E8-AD8C-4B5F-887A-99118BC23A32}">
      <dgm:prSet/>
      <dgm:spPr/>
      <dgm:t>
        <a:bodyPr/>
        <a:lstStyle/>
        <a:p>
          <a:endParaRPr lang="en-US"/>
        </a:p>
      </dgm:t>
    </dgm:pt>
    <dgm:pt modelId="{FC837ABF-44E1-407A-8E7A-5BD879E188C2}" type="pres">
      <dgm:prSet presAssocID="{EB97C740-8D29-4550-8149-6F4069845D5B}" presName="root" presStyleCnt="0">
        <dgm:presLayoutVars>
          <dgm:dir/>
          <dgm:resizeHandles val="exact"/>
        </dgm:presLayoutVars>
      </dgm:prSet>
      <dgm:spPr/>
    </dgm:pt>
    <dgm:pt modelId="{738CB2C8-8DB5-44D5-BCC7-29274A407868}" type="pres">
      <dgm:prSet presAssocID="{E53CCBC6-3389-4855-A348-A2598357A14D}" presName="compNode" presStyleCnt="0"/>
      <dgm:spPr/>
    </dgm:pt>
    <dgm:pt modelId="{85127808-C6DF-44CF-940D-685FF55E3315}" type="pres">
      <dgm:prSet presAssocID="{E53CCBC6-3389-4855-A348-A2598357A14D}" presName="iconBgRect" presStyleLbl="bgShp" presStyleIdx="0" presStyleCnt="4" custLinFactNeighborX="-2498" custLinFactNeighborY="-2400"/>
      <dgm:spPr>
        <a:prstGeom prst="round2DiagRect">
          <a:avLst>
            <a:gd name="adj1" fmla="val 29727"/>
            <a:gd name="adj2" fmla="val 0"/>
          </a:avLst>
        </a:prstGeom>
        <a:noFill/>
      </dgm:spPr>
    </dgm:pt>
    <dgm:pt modelId="{2FF81DCF-7D97-4B68-922B-976AD0A203AE}" type="pres">
      <dgm:prSet presAssocID="{E53CCBC6-3389-4855-A348-A2598357A14D}" presName="iconRect" presStyleLbl="node1" presStyleIdx="0" presStyleCnt="4" custLinFactNeighborX="-4354" custLinFactNeighborY="580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Fire"/>
        </a:ext>
      </dgm:extLst>
    </dgm:pt>
    <dgm:pt modelId="{81048731-CD52-49C9-9D6A-8B065A1A3DCD}" type="pres">
      <dgm:prSet presAssocID="{E53CCBC6-3389-4855-A348-A2598357A14D}" presName="spaceRect" presStyleCnt="0"/>
      <dgm:spPr/>
    </dgm:pt>
    <dgm:pt modelId="{3C0B2A7A-04B7-4832-AB62-E620049E9598}" type="pres">
      <dgm:prSet presAssocID="{E53CCBC6-3389-4855-A348-A2598357A14D}" presName="textRect" presStyleLbl="revTx" presStyleIdx="0" presStyleCnt="4" custScaleX="273730">
        <dgm:presLayoutVars>
          <dgm:chMax val="1"/>
          <dgm:chPref val="1"/>
        </dgm:presLayoutVars>
      </dgm:prSet>
      <dgm:spPr/>
    </dgm:pt>
    <dgm:pt modelId="{2B000292-400F-4E14-A659-F58EBB22C739}" type="pres">
      <dgm:prSet presAssocID="{980CDA11-C4E6-4964-BF81-1162D4738451}" presName="sibTrans" presStyleCnt="0"/>
      <dgm:spPr/>
    </dgm:pt>
    <dgm:pt modelId="{C9F7703D-D679-4211-A07C-4DAF7ABDD1E5}" type="pres">
      <dgm:prSet presAssocID="{F09A897E-0D22-40DC-84CB-065F1C903823}" presName="compNode" presStyleCnt="0"/>
      <dgm:spPr/>
    </dgm:pt>
    <dgm:pt modelId="{0E33C457-D408-4B4D-AE53-E051DEB6A5BE}" type="pres">
      <dgm:prSet presAssocID="{F09A897E-0D22-40DC-84CB-065F1C903823}" presName="iconBgRect" presStyleLbl="bgShp" presStyleIdx="1" presStyleCnt="4" custLinFactNeighborX="-8012" custLinFactNeighborY="5095"/>
      <dgm:spPr>
        <a:prstGeom prst="round2DiagRect">
          <a:avLst>
            <a:gd name="adj1" fmla="val 29727"/>
            <a:gd name="adj2" fmla="val 0"/>
          </a:avLst>
        </a:prstGeom>
        <a:noFill/>
      </dgm:spPr>
    </dgm:pt>
    <dgm:pt modelId="{533963C0-7759-46E1-A601-539E82E4F306}" type="pres">
      <dgm:prSet presAssocID="{F09A897E-0D22-40DC-84CB-065F1C903823}" presName="iconRect" presStyleLbl="node1" presStyleIdx="1" presStyleCnt="4" custScaleX="142241" custScaleY="149327" custLinFactNeighborX="-3321" custLinFactNeighborY="10160"/>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dgm:spPr>
      <dgm:extLst>
        <a:ext uri="{E40237B7-FDA0-4F09-8148-C483321AD2D9}">
          <dgm14:cNvPr xmlns:dgm14="http://schemas.microsoft.com/office/drawing/2010/diagram" id="0" name="" descr="Gears with solid fill"/>
        </a:ext>
      </dgm:extLst>
    </dgm:pt>
    <dgm:pt modelId="{F07AAE64-AE38-49E4-9E3B-DBCFA91BC3A7}" type="pres">
      <dgm:prSet presAssocID="{F09A897E-0D22-40DC-84CB-065F1C903823}" presName="spaceRect" presStyleCnt="0"/>
      <dgm:spPr/>
    </dgm:pt>
    <dgm:pt modelId="{6C97CD92-B035-4E85-BBED-23FF679B00DC}" type="pres">
      <dgm:prSet presAssocID="{F09A897E-0D22-40DC-84CB-065F1C903823}" presName="textRect" presStyleLbl="revTx" presStyleIdx="1" presStyleCnt="4" custScaleX="161588">
        <dgm:presLayoutVars>
          <dgm:chMax val="1"/>
          <dgm:chPref val="1"/>
        </dgm:presLayoutVars>
      </dgm:prSet>
      <dgm:spPr/>
    </dgm:pt>
    <dgm:pt modelId="{2646AD56-AB67-4B52-92C5-1E683D68C752}" type="pres">
      <dgm:prSet presAssocID="{DB3965B2-A659-4385-9E67-02CE489142C3}" presName="sibTrans" presStyleCnt="0"/>
      <dgm:spPr/>
    </dgm:pt>
    <dgm:pt modelId="{CAD775C4-C523-42F3-A411-35F7543299D7}" type="pres">
      <dgm:prSet presAssocID="{3F2E71BF-B6AC-477E-A842-085BB08D24D7}" presName="compNode" presStyleCnt="0"/>
      <dgm:spPr/>
    </dgm:pt>
    <dgm:pt modelId="{CA5299B4-D2A2-42E6-928D-9844DE93E663}" type="pres">
      <dgm:prSet presAssocID="{3F2E71BF-B6AC-477E-A842-085BB08D24D7}" presName="iconBgRect" presStyleLbl="bgShp" presStyleIdx="2" presStyleCnt="4"/>
      <dgm:spPr>
        <a:prstGeom prst="round2DiagRect">
          <a:avLst>
            <a:gd name="adj1" fmla="val 29727"/>
            <a:gd name="adj2" fmla="val 0"/>
          </a:avLst>
        </a:prstGeom>
        <a:noFill/>
      </dgm:spPr>
    </dgm:pt>
    <dgm:pt modelId="{44CBF2B4-43C5-4D32-92BD-ED6222BF2036}" type="pres">
      <dgm:prSet presAssocID="{3F2E71BF-B6AC-477E-A842-085BB08D24D7}"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High Voltage"/>
        </a:ext>
      </dgm:extLst>
    </dgm:pt>
    <dgm:pt modelId="{276D8237-9BDD-4EDB-B37C-2721D4B4E205}" type="pres">
      <dgm:prSet presAssocID="{3F2E71BF-B6AC-477E-A842-085BB08D24D7}" presName="spaceRect" presStyleCnt="0"/>
      <dgm:spPr/>
    </dgm:pt>
    <dgm:pt modelId="{5CFA9FDA-B2A1-49A1-916A-6A03A92532C8}" type="pres">
      <dgm:prSet presAssocID="{3F2E71BF-B6AC-477E-A842-085BB08D24D7}" presName="textRect" presStyleLbl="revTx" presStyleIdx="2" presStyleCnt="4" custScaleX="231618">
        <dgm:presLayoutVars>
          <dgm:chMax val="1"/>
          <dgm:chPref val="1"/>
        </dgm:presLayoutVars>
      </dgm:prSet>
      <dgm:spPr/>
    </dgm:pt>
    <dgm:pt modelId="{A2564B66-27A0-41D4-BE70-4402370BC5F7}" type="pres">
      <dgm:prSet presAssocID="{38D23371-2540-44F4-B159-0BF3E348F7D4}" presName="sibTrans" presStyleCnt="0"/>
      <dgm:spPr/>
    </dgm:pt>
    <dgm:pt modelId="{B1E7A1AC-2093-4B7E-8892-F75B35D363BF}" type="pres">
      <dgm:prSet presAssocID="{9FA0F05F-E603-4A8F-B434-23BE1FE79C72}" presName="compNode" presStyleCnt="0"/>
      <dgm:spPr/>
    </dgm:pt>
    <dgm:pt modelId="{0567729E-50D9-44B9-89C3-D4F9AD55EA0E}" type="pres">
      <dgm:prSet presAssocID="{9FA0F05F-E603-4A8F-B434-23BE1FE79C72}" presName="iconBgRect" presStyleLbl="bgShp" presStyleIdx="3" presStyleCnt="4"/>
      <dgm:spPr>
        <a:prstGeom prst="round2DiagRect">
          <a:avLst>
            <a:gd name="adj1" fmla="val 29727"/>
            <a:gd name="adj2" fmla="val 0"/>
          </a:avLst>
        </a:prstGeom>
        <a:noFill/>
      </dgm:spPr>
    </dgm:pt>
    <dgm:pt modelId="{253CFC22-3B4A-43A5-AF43-D8BEE0DBF523}" type="pres">
      <dgm:prSet presAssocID="{9FA0F05F-E603-4A8F-B434-23BE1FE79C72}" presName="iconRect" presStyleLbl="node1" presStyleIdx="3" presStyleCnt="4" custLinFactX="188648" custLinFactNeighborX="200000" custLinFactNeighborY="-23223"/>
      <dgm:spPr/>
    </dgm:pt>
    <dgm:pt modelId="{BA70B3C4-5FEA-4D14-B8D1-B0EC491CE4AC}" type="pres">
      <dgm:prSet presAssocID="{9FA0F05F-E603-4A8F-B434-23BE1FE79C72}" presName="spaceRect" presStyleCnt="0"/>
      <dgm:spPr/>
    </dgm:pt>
    <dgm:pt modelId="{3729B4EB-301E-4166-8E42-E09D888BF7C4}" type="pres">
      <dgm:prSet presAssocID="{9FA0F05F-E603-4A8F-B434-23BE1FE79C72}" presName="textRect" presStyleLbl="revTx" presStyleIdx="3" presStyleCnt="4">
        <dgm:presLayoutVars>
          <dgm:chMax val="1"/>
          <dgm:chPref val="1"/>
        </dgm:presLayoutVars>
      </dgm:prSet>
      <dgm:spPr/>
    </dgm:pt>
  </dgm:ptLst>
  <dgm:cxnLst>
    <dgm:cxn modelId="{03A4FF0B-2DF7-436C-B8E6-8D04564A2E0B}" srcId="{EB97C740-8D29-4550-8149-6F4069845D5B}" destId="{E53CCBC6-3389-4855-A348-A2598357A14D}" srcOrd="0" destOrd="0" parTransId="{0144F3AF-E0B2-473A-8584-EB68C2D819D1}" sibTransId="{980CDA11-C4E6-4964-BF81-1162D4738451}"/>
    <dgm:cxn modelId="{1B512E2E-BD82-4DA5-BBEC-3CDFCF2B1D89}" type="presOf" srcId="{9FA0F05F-E603-4A8F-B434-23BE1FE79C72}" destId="{3729B4EB-301E-4166-8E42-E09D888BF7C4}" srcOrd="0" destOrd="0" presId="urn:microsoft.com/office/officeart/2018/5/layout/IconLeafLabelList"/>
    <dgm:cxn modelId="{9D783D31-579D-47BA-984F-D43D75CC5042}" type="presOf" srcId="{3F2E71BF-B6AC-477E-A842-085BB08D24D7}" destId="{5CFA9FDA-B2A1-49A1-916A-6A03A92532C8}" srcOrd="0" destOrd="0" presId="urn:microsoft.com/office/officeart/2018/5/layout/IconLeafLabelList"/>
    <dgm:cxn modelId="{41E0905B-AC50-4E72-940F-810D3D61BC3B}" type="presOf" srcId="{EB97C740-8D29-4550-8149-6F4069845D5B}" destId="{FC837ABF-44E1-407A-8E7A-5BD879E188C2}" srcOrd="0" destOrd="0" presId="urn:microsoft.com/office/officeart/2018/5/layout/IconLeafLabelList"/>
    <dgm:cxn modelId="{CCCEA748-736E-42E1-BD92-F541A364CA7A}" srcId="{EB97C740-8D29-4550-8149-6F4069845D5B}" destId="{F09A897E-0D22-40DC-84CB-065F1C903823}" srcOrd="1" destOrd="0" parTransId="{F9A8D9C9-EFB8-429F-9E70-7875FCED8386}" sibTransId="{DB3965B2-A659-4385-9E67-02CE489142C3}"/>
    <dgm:cxn modelId="{4DA6737C-7DDF-40E5-A679-32EBB01551C2}" type="presOf" srcId="{F09A897E-0D22-40DC-84CB-065F1C903823}" destId="{6C97CD92-B035-4E85-BBED-23FF679B00DC}" srcOrd="0" destOrd="0" presId="urn:microsoft.com/office/officeart/2018/5/layout/IconLeafLabelList"/>
    <dgm:cxn modelId="{FA10D082-A231-4A79-88CC-28650F79E529}" srcId="{EB97C740-8D29-4550-8149-6F4069845D5B}" destId="{3F2E71BF-B6AC-477E-A842-085BB08D24D7}" srcOrd="2" destOrd="0" parTransId="{79F9E6AC-42DF-47A7-B472-CE3148668285}" sibTransId="{38D23371-2540-44F4-B159-0BF3E348F7D4}"/>
    <dgm:cxn modelId="{527A32D6-9594-40CF-BC6E-143027EB3FE2}" type="presOf" srcId="{E53CCBC6-3389-4855-A348-A2598357A14D}" destId="{3C0B2A7A-04B7-4832-AB62-E620049E9598}" srcOrd="0" destOrd="0" presId="urn:microsoft.com/office/officeart/2018/5/layout/IconLeafLabelList"/>
    <dgm:cxn modelId="{7FFF51E8-AD8C-4B5F-887A-99118BC23A32}" srcId="{EB97C740-8D29-4550-8149-6F4069845D5B}" destId="{9FA0F05F-E603-4A8F-B434-23BE1FE79C72}" srcOrd="3" destOrd="0" parTransId="{CCEF7891-375A-487D-82D8-4C96FC142A5C}" sibTransId="{335AA397-8F49-49B3-99A3-9224642C5C82}"/>
    <dgm:cxn modelId="{9A08E400-E1AB-47E2-87D2-4F60B73B290B}" type="presParOf" srcId="{FC837ABF-44E1-407A-8E7A-5BD879E188C2}" destId="{738CB2C8-8DB5-44D5-BCC7-29274A407868}" srcOrd="0" destOrd="0" presId="urn:microsoft.com/office/officeart/2018/5/layout/IconLeafLabelList"/>
    <dgm:cxn modelId="{F3DA9D45-F8E8-40F0-AF10-C717B31F01F4}" type="presParOf" srcId="{738CB2C8-8DB5-44D5-BCC7-29274A407868}" destId="{85127808-C6DF-44CF-940D-685FF55E3315}" srcOrd="0" destOrd="0" presId="urn:microsoft.com/office/officeart/2018/5/layout/IconLeafLabelList"/>
    <dgm:cxn modelId="{94BDCD8D-D104-4876-803F-F2C6A244A8EE}" type="presParOf" srcId="{738CB2C8-8DB5-44D5-BCC7-29274A407868}" destId="{2FF81DCF-7D97-4B68-922B-976AD0A203AE}" srcOrd="1" destOrd="0" presId="urn:microsoft.com/office/officeart/2018/5/layout/IconLeafLabelList"/>
    <dgm:cxn modelId="{553B9666-F547-402A-B610-8549E28F82A0}" type="presParOf" srcId="{738CB2C8-8DB5-44D5-BCC7-29274A407868}" destId="{81048731-CD52-49C9-9D6A-8B065A1A3DCD}" srcOrd="2" destOrd="0" presId="urn:microsoft.com/office/officeart/2018/5/layout/IconLeafLabelList"/>
    <dgm:cxn modelId="{9246BE5E-D20E-4C08-A0B1-264176E88399}" type="presParOf" srcId="{738CB2C8-8DB5-44D5-BCC7-29274A407868}" destId="{3C0B2A7A-04B7-4832-AB62-E620049E9598}" srcOrd="3" destOrd="0" presId="urn:microsoft.com/office/officeart/2018/5/layout/IconLeafLabelList"/>
    <dgm:cxn modelId="{2C8CEB34-712E-4519-8F32-951B428C19D1}" type="presParOf" srcId="{FC837ABF-44E1-407A-8E7A-5BD879E188C2}" destId="{2B000292-400F-4E14-A659-F58EBB22C739}" srcOrd="1" destOrd="0" presId="urn:microsoft.com/office/officeart/2018/5/layout/IconLeafLabelList"/>
    <dgm:cxn modelId="{163EA92E-7837-4D98-9326-2AEA18DB22C2}" type="presParOf" srcId="{FC837ABF-44E1-407A-8E7A-5BD879E188C2}" destId="{C9F7703D-D679-4211-A07C-4DAF7ABDD1E5}" srcOrd="2" destOrd="0" presId="urn:microsoft.com/office/officeart/2018/5/layout/IconLeafLabelList"/>
    <dgm:cxn modelId="{4234BF90-8BA5-4CB4-819D-1B9F0DD6DA19}" type="presParOf" srcId="{C9F7703D-D679-4211-A07C-4DAF7ABDD1E5}" destId="{0E33C457-D408-4B4D-AE53-E051DEB6A5BE}" srcOrd="0" destOrd="0" presId="urn:microsoft.com/office/officeart/2018/5/layout/IconLeafLabelList"/>
    <dgm:cxn modelId="{BD2DE11D-EF2F-4AE8-BA15-787A20C76EB7}" type="presParOf" srcId="{C9F7703D-D679-4211-A07C-4DAF7ABDD1E5}" destId="{533963C0-7759-46E1-A601-539E82E4F306}" srcOrd="1" destOrd="0" presId="urn:microsoft.com/office/officeart/2018/5/layout/IconLeafLabelList"/>
    <dgm:cxn modelId="{BFBC8E58-ED41-4AF5-B3FA-DFF6022AE650}" type="presParOf" srcId="{C9F7703D-D679-4211-A07C-4DAF7ABDD1E5}" destId="{F07AAE64-AE38-49E4-9E3B-DBCFA91BC3A7}" srcOrd="2" destOrd="0" presId="urn:microsoft.com/office/officeart/2018/5/layout/IconLeafLabelList"/>
    <dgm:cxn modelId="{1582CFE5-C71F-4DC2-B4BC-2EC36FC99F43}" type="presParOf" srcId="{C9F7703D-D679-4211-A07C-4DAF7ABDD1E5}" destId="{6C97CD92-B035-4E85-BBED-23FF679B00DC}" srcOrd="3" destOrd="0" presId="urn:microsoft.com/office/officeart/2018/5/layout/IconLeafLabelList"/>
    <dgm:cxn modelId="{B18115FB-2DAB-46E5-A70F-C918A09CA04B}" type="presParOf" srcId="{FC837ABF-44E1-407A-8E7A-5BD879E188C2}" destId="{2646AD56-AB67-4B52-92C5-1E683D68C752}" srcOrd="3" destOrd="0" presId="urn:microsoft.com/office/officeart/2018/5/layout/IconLeafLabelList"/>
    <dgm:cxn modelId="{37C4AEA3-647A-425F-9C87-EAD977AB1695}" type="presParOf" srcId="{FC837ABF-44E1-407A-8E7A-5BD879E188C2}" destId="{CAD775C4-C523-42F3-A411-35F7543299D7}" srcOrd="4" destOrd="0" presId="urn:microsoft.com/office/officeart/2018/5/layout/IconLeafLabelList"/>
    <dgm:cxn modelId="{703C0CD3-B7EB-4EF6-BF91-23C1B1CD938A}" type="presParOf" srcId="{CAD775C4-C523-42F3-A411-35F7543299D7}" destId="{CA5299B4-D2A2-42E6-928D-9844DE93E663}" srcOrd="0" destOrd="0" presId="urn:microsoft.com/office/officeart/2018/5/layout/IconLeafLabelList"/>
    <dgm:cxn modelId="{7ACAAEA1-FD17-42FB-B857-F89A0FC2E2E0}" type="presParOf" srcId="{CAD775C4-C523-42F3-A411-35F7543299D7}" destId="{44CBF2B4-43C5-4D32-92BD-ED6222BF2036}" srcOrd="1" destOrd="0" presId="urn:microsoft.com/office/officeart/2018/5/layout/IconLeafLabelList"/>
    <dgm:cxn modelId="{1671638B-E817-4A5F-B9D8-936B4ED1A23F}" type="presParOf" srcId="{CAD775C4-C523-42F3-A411-35F7543299D7}" destId="{276D8237-9BDD-4EDB-B37C-2721D4B4E205}" srcOrd="2" destOrd="0" presId="urn:microsoft.com/office/officeart/2018/5/layout/IconLeafLabelList"/>
    <dgm:cxn modelId="{12773155-8695-4CEF-89C3-147A7FF765C2}" type="presParOf" srcId="{CAD775C4-C523-42F3-A411-35F7543299D7}" destId="{5CFA9FDA-B2A1-49A1-916A-6A03A92532C8}" srcOrd="3" destOrd="0" presId="urn:microsoft.com/office/officeart/2018/5/layout/IconLeafLabelList"/>
    <dgm:cxn modelId="{F736C9AB-2385-48DB-AE53-2077FD3AFAB8}" type="presParOf" srcId="{FC837ABF-44E1-407A-8E7A-5BD879E188C2}" destId="{A2564B66-27A0-41D4-BE70-4402370BC5F7}" srcOrd="5" destOrd="0" presId="urn:microsoft.com/office/officeart/2018/5/layout/IconLeafLabelList"/>
    <dgm:cxn modelId="{949E1D2A-E94D-463E-B423-6EBA035A9084}" type="presParOf" srcId="{FC837ABF-44E1-407A-8E7A-5BD879E188C2}" destId="{B1E7A1AC-2093-4B7E-8892-F75B35D363BF}" srcOrd="6" destOrd="0" presId="urn:microsoft.com/office/officeart/2018/5/layout/IconLeafLabelList"/>
    <dgm:cxn modelId="{8A2FBABC-3406-49D1-8FC7-12C4E3EA7588}" type="presParOf" srcId="{B1E7A1AC-2093-4B7E-8892-F75B35D363BF}" destId="{0567729E-50D9-44B9-89C3-D4F9AD55EA0E}" srcOrd="0" destOrd="0" presId="urn:microsoft.com/office/officeart/2018/5/layout/IconLeafLabelList"/>
    <dgm:cxn modelId="{B77E2199-53EB-48DD-88E9-34DE401B74F8}" type="presParOf" srcId="{B1E7A1AC-2093-4B7E-8892-F75B35D363BF}" destId="{253CFC22-3B4A-43A5-AF43-D8BEE0DBF523}" srcOrd="1" destOrd="0" presId="urn:microsoft.com/office/officeart/2018/5/layout/IconLeafLabelList"/>
    <dgm:cxn modelId="{E712F670-F888-4287-B3DC-8E9F35407742}" type="presParOf" srcId="{B1E7A1AC-2093-4B7E-8892-F75B35D363BF}" destId="{BA70B3C4-5FEA-4D14-B8D1-B0EC491CE4AC}" srcOrd="2" destOrd="0" presId="urn:microsoft.com/office/officeart/2018/5/layout/IconLeafLabelList"/>
    <dgm:cxn modelId="{D1CC212D-1343-43F7-8C5E-E9179F50E659}" type="presParOf" srcId="{B1E7A1AC-2093-4B7E-8892-F75B35D363BF}" destId="{3729B4EB-301E-4166-8E42-E09D888BF7C4}" srcOrd="3" destOrd="0" presId="urn:microsoft.com/office/officeart/2018/5/layout/IconLeaf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1EC5847-7A14-4681-A952-92798DEDE328}">
      <dsp:nvSpPr>
        <dsp:cNvPr id="0" name=""/>
        <dsp:cNvSpPr/>
      </dsp:nvSpPr>
      <dsp:spPr>
        <a:xfrm>
          <a:off x="0" y="489"/>
          <a:ext cx="4304613" cy="114595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E8EAC48-4A53-46A7-8E81-6F5CE2B09B45}">
      <dsp:nvSpPr>
        <dsp:cNvPr id="0" name=""/>
        <dsp:cNvSpPr/>
      </dsp:nvSpPr>
      <dsp:spPr>
        <a:xfrm>
          <a:off x="346650" y="258328"/>
          <a:ext cx="630272" cy="63027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5C5602F-D989-4B3C-B445-683B8EF2273F}">
      <dsp:nvSpPr>
        <dsp:cNvPr id="0" name=""/>
        <dsp:cNvSpPr/>
      </dsp:nvSpPr>
      <dsp:spPr>
        <a:xfrm>
          <a:off x="1323572" y="489"/>
          <a:ext cx="2981040" cy="11459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280" tIns="121280" rIns="121280" bIns="121280" numCol="1" spcCol="1270" anchor="ctr" anchorCtr="0">
          <a:noAutofit/>
        </a:bodyPr>
        <a:lstStyle/>
        <a:p>
          <a:pPr marL="0" lvl="0" indent="0" algn="l" defTabSz="844550">
            <a:lnSpc>
              <a:spcPct val="100000"/>
            </a:lnSpc>
            <a:spcBef>
              <a:spcPct val="0"/>
            </a:spcBef>
            <a:spcAft>
              <a:spcPct val="35000"/>
            </a:spcAft>
            <a:buNone/>
          </a:pPr>
          <a:r>
            <a:rPr lang="en-GB" sz="1900" kern="1200" dirty="0"/>
            <a:t>• Rising energy demands and fossil fuel limitations</a:t>
          </a:r>
          <a:endParaRPr lang="en-US" sz="1900" kern="1200" dirty="0"/>
        </a:p>
      </dsp:txBody>
      <dsp:txXfrm>
        <a:off x="1323572" y="489"/>
        <a:ext cx="2981040" cy="1145950"/>
      </dsp:txXfrm>
    </dsp:sp>
    <dsp:sp modelId="{6C94B85E-36DA-49A4-99CC-D23A3819083E}">
      <dsp:nvSpPr>
        <dsp:cNvPr id="0" name=""/>
        <dsp:cNvSpPr/>
      </dsp:nvSpPr>
      <dsp:spPr>
        <a:xfrm>
          <a:off x="0" y="1432927"/>
          <a:ext cx="4304613" cy="114595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84E1B58-DEE3-4152-8996-EC5E562B8279}">
      <dsp:nvSpPr>
        <dsp:cNvPr id="0" name=""/>
        <dsp:cNvSpPr/>
      </dsp:nvSpPr>
      <dsp:spPr>
        <a:xfrm>
          <a:off x="346650" y="1690766"/>
          <a:ext cx="630272" cy="63027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5CC76F9-33B2-4413-820E-1D7F7FB03CCE}">
      <dsp:nvSpPr>
        <dsp:cNvPr id="0" name=""/>
        <dsp:cNvSpPr/>
      </dsp:nvSpPr>
      <dsp:spPr>
        <a:xfrm>
          <a:off x="1323572" y="1432927"/>
          <a:ext cx="2981040" cy="11459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280" tIns="121280" rIns="121280" bIns="121280" numCol="1" spcCol="1270" anchor="ctr" anchorCtr="0">
          <a:noAutofit/>
        </a:bodyPr>
        <a:lstStyle/>
        <a:p>
          <a:pPr marL="0" lvl="0" indent="0" algn="l" defTabSz="844550">
            <a:lnSpc>
              <a:spcPct val="100000"/>
            </a:lnSpc>
            <a:spcBef>
              <a:spcPct val="0"/>
            </a:spcBef>
            <a:spcAft>
              <a:spcPct val="35000"/>
            </a:spcAft>
            <a:buNone/>
          </a:pPr>
          <a:r>
            <a:rPr lang="en-GB" sz="1900" kern="1200"/>
            <a:t>• Hydrogen: High energy density, no harmful emissions</a:t>
          </a:r>
          <a:endParaRPr lang="en-US" sz="1900" kern="1200"/>
        </a:p>
      </dsp:txBody>
      <dsp:txXfrm>
        <a:off x="1323572" y="1432927"/>
        <a:ext cx="2981040" cy="1145950"/>
      </dsp:txXfrm>
    </dsp:sp>
    <dsp:sp modelId="{5D2EE85A-A38E-404C-B2B4-1725E3956964}">
      <dsp:nvSpPr>
        <dsp:cNvPr id="0" name=""/>
        <dsp:cNvSpPr/>
      </dsp:nvSpPr>
      <dsp:spPr>
        <a:xfrm>
          <a:off x="0" y="2865365"/>
          <a:ext cx="4304613" cy="114595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A72C1EC-B004-48C9-9DF0-63E99798664F}">
      <dsp:nvSpPr>
        <dsp:cNvPr id="0" name=""/>
        <dsp:cNvSpPr/>
      </dsp:nvSpPr>
      <dsp:spPr>
        <a:xfrm>
          <a:off x="346650" y="3123204"/>
          <a:ext cx="630272" cy="63027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AFA062C-053D-4AEB-B198-C85CD59C5C10}">
      <dsp:nvSpPr>
        <dsp:cNvPr id="0" name=""/>
        <dsp:cNvSpPr/>
      </dsp:nvSpPr>
      <dsp:spPr>
        <a:xfrm>
          <a:off x="1323572" y="2865365"/>
          <a:ext cx="2981040" cy="11459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280" tIns="121280" rIns="121280" bIns="121280" numCol="1" spcCol="1270" anchor="ctr" anchorCtr="0">
          <a:noAutofit/>
        </a:bodyPr>
        <a:lstStyle/>
        <a:p>
          <a:pPr marL="0" lvl="0" indent="0" algn="l" defTabSz="844550">
            <a:lnSpc>
              <a:spcPct val="100000"/>
            </a:lnSpc>
            <a:spcBef>
              <a:spcPct val="0"/>
            </a:spcBef>
            <a:spcAft>
              <a:spcPct val="35000"/>
            </a:spcAft>
            <a:buNone/>
          </a:pPr>
          <a:r>
            <a:rPr lang="en-GB" sz="1900" kern="1200"/>
            <a:t>• Goal: Efficient solar-powered hydrogen production</a:t>
          </a:r>
          <a:endParaRPr lang="en-US" sz="1900" kern="1200"/>
        </a:p>
      </dsp:txBody>
      <dsp:txXfrm>
        <a:off x="1323572" y="2865365"/>
        <a:ext cx="2981040" cy="114595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9739D0-87A5-474F-A8BE-3C8B911496C8}">
      <dsp:nvSpPr>
        <dsp:cNvPr id="0" name=""/>
        <dsp:cNvSpPr/>
      </dsp:nvSpPr>
      <dsp:spPr>
        <a:xfrm>
          <a:off x="13749" y="854061"/>
          <a:ext cx="711018" cy="711018"/>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4DA5AA3-6877-4E4E-ABA6-F5FD2F6A7EC3}">
      <dsp:nvSpPr>
        <dsp:cNvPr id="0" name=""/>
        <dsp:cNvSpPr/>
      </dsp:nvSpPr>
      <dsp:spPr>
        <a:xfrm>
          <a:off x="163063" y="1003375"/>
          <a:ext cx="412390" cy="41239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2F0133C-AD6A-4A84-9352-8387F2433F86}">
      <dsp:nvSpPr>
        <dsp:cNvPr id="0" name=""/>
        <dsp:cNvSpPr/>
      </dsp:nvSpPr>
      <dsp:spPr>
        <a:xfrm>
          <a:off x="877128" y="854061"/>
          <a:ext cx="1675971" cy="7110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100000"/>
            </a:lnSpc>
            <a:spcBef>
              <a:spcPct val="0"/>
            </a:spcBef>
            <a:spcAft>
              <a:spcPct val="35000"/>
            </a:spcAft>
            <a:buNone/>
          </a:pPr>
          <a:r>
            <a:rPr lang="en-US" sz="1400" kern="1200"/>
            <a:t>• PE-VC systems selected for efficiency (up to 32%)</a:t>
          </a:r>
        </a:p>
      </dsp:txBody>
      <dsp:txXfrm>
        <a:off x="877128" y="854061"/>
        <a:ext cx="1675971" cy="711018"/>
      </dsp:txXfrm>
    </dsp:sp>
    <dsp:sp modelId="{8FB54917-AE5D-435F-9596-21E0E36404F4}">
      <dsp:nvSpPr>
        <dsp:cNvPr id="0" name=""/>
        <dsp:cNvSpPr/>
      </dsp:nvSpPr>
      <dsp:spPr>
        <a:xfrm>
          <a:off x="2845124" y="854061"/>
          <a:ext cx="711018" cy="711018"/>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F4C1823-0063-4E11-8A90-4C9EE49CA3D2}">
      <dsp:nvSpPr>
        <dsp:cNvPr id="0" name=""/>
        <dsp:cNvSpPr/>
      </dsp:nvSpPr>
      <dsp:spPr>
        <a:xfrm>
          <a:off x="2994438" y="1003375"/>
          <a:ext cx="412390" cy="412390"/>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EE9FCED-6AAF-493E-8CD6-B6BD348E321E}">
      <dsp:nvSpPr>
        <dsp:cNvPr id="0" name=""/>
        <dsp:cNvSpPr/>
      </dsp:nvSpPr>
      <dsp:spPr>
        <a:xfrm>
          <a:off x="3708504" y="854061"/>
          <a:ext cx="1675971" cy="7110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100000"/>
            </a:lnSpc>
            <a:spcBef>
              <a:spcPct val="0"/>
            </a:spcBef>
            <a:spcAft>
              <a:spcPct val="35000"/>
            </a:spcAft>
            <a:buNone/>
          </a:pPr>
          <a:r>
            <a:rPr lang="en-US" sz="1400" kern="1200" dirty="0"/>
            <a:t>• Oxford PV panels: 25% conversion, 1087 W/m² output</a:t>
          </a:r>
        </a:p>
      </dsp:txBody>
      <dsp:txXfrm>
        <a:off x="3708504" y="854061"/>
        <a:ext cx="1675971" cy="711018"/>
      </dsp:txXfrm>
    </dsp:sp>
    <dsp:sp modelId="{F3A0C413-1112-4C78-A976-B99F6E95F419}">
      <dsp:nvSpPr>
        <dsp:cNvPr id="0" name=""/>
        <dsp:cNvSpPr/>
      </dsp:nvSpPr>
      <dsp:spPr>
        <a:xfrm>
          <a:off x="5676500" y="854061"/>
          <a:ext cx="711018" cy="711018"/>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CD2113F-D751-4053-8803-E9AE76078E7B}">
      <dsp:nvSpPr>
        <dsp:cNvPr id="0" name=""/>
        <dsp:cNvSpPr/>
      </dsp:nvSpPr>
      <dsp:spPr>
        <a:xfrm>
          <a:off x="5825814" y="1003375"/>
          <a:ext cx="412390" cy="412390"/>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2EC230D-F946-4859-B6DB-12BED052A1B3}">
      <dsp:nvSpPr>
        <dsp:cNvPr id="0" name=""/>
        <dsp:cNvSpPr/>
      </dsp:nvSpPr>
      <dsp:spPr>
        <a:xfrm>
          <a:off x="6539879" y="854061"/>
          <a:ext cx="1675971" cy="7110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100000"/>
            </a:lnSpc>
            <a:spcBef>
              <a:spcPct val="0"/>
            </a:spcBef>
            <a:spcAft>
              <a:spcPct val="35000"/>
            </a:spcAft>
            <a:buNone/>
          </a:pPr>
          <a:r>
            <a:rPr lang="en-US" sz="1400" kern="1200"/>
            <a:t>• Solar tracking increases output by ~22%</a:t>
          </a:r>
        </a:p>
      </dsp:txBody>
      <dsp:txXfrm>
        <a:off x="6539879" y="854061"/>
        <a:ext cx="1675971" cy="71101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4EC6E03-128A-45D9-B5E7-1A487B2DADF5}">
      <dsp:nvSpPr>
        <dsp:cNvPr id="0" name=""/>
        <dsp:cNvSpPr/>
      </dsp:nvSpPr>
      <dsp:spPr>
        <a:xfrm>
          <a:off x="739992" y="504082"/>
          <a:ext cx="810000" cy="810000"/>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F2ABA701-7F12-43B2-AAA8-1A5C3E61BC64}">
      <dsp:nvSpPr>
        <dsp:cNvPr id="0" name=""/>
        <dsp:cNvSpPr/>
      </dsp:nvSpPr>
      <dsp:spPr>
        <a:xfrm>
          <a:off x="244992" y="1584095"/>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n-GB" sz="1500" kern="1200"/>
            <a:t>Alkaline Water Electrolysis (AWE),</a:t>
          </a:r>
          <a:endParaRPr lang="en-US" sz="1500" kern="1200"/>
        </a:p>
      </dsp:txBody>
      <dsp:txXfrm>
        <a:off x="244992" y="1584095"/>
        <a:ext cx="1800000" cy="720000"/>
      </dsp:txXfrm>
    </dsp:sp>
    <dsp:sp modelId="{0A78C099-B148-4A40-B4D9-20AB10813627}">
      <dsp:nvSpPr>
        <dsp:cNvPr id="0" name=""/>
        <dsp:cNvSpPr/>
      </dsp:nvSpPr>
      <dsp:spPr>
        <a:xfrm>
          <a:off x="2854992" y="504082"/>
          <a:ext cx="810000" cy="810000"/>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AB796B57-7A3F-4FAB-9869-8ED61F444AB0}">
      <dsp:nvSpPr>
        <dsp:cNvPr id="0" name=""/>
        <dsp:cNvSpPr/>
      </dsp:nvSpPr>
      <dsp:spPr>
        <a:xfrm>
          <a:off x="2359992" y="1584095"/>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n-GB" sz="1500" kern="1200"/>
            <a:t>Polymer Electrolyte Membrane Water Electrolysis (PEMWE)</a:t>
          </a:r>
          <a:endParaRPr lang="en-US" sz="1500" kern="1200"/>
        </a:p>
      </dsp:txBody>
      <dsp:txXfrm>
        <a:off x="2359992" y="1584095"/>
        <a:ext cx="1800000" cy="720000"/>
      </dsp:txXfrm>
    </dsp:sp>
    <dsp:sp modelId="{C8DD2619-88B3-4336-A680-23F2399BA6BE}">
      <dsp:nvSpPr>
        <dsp:cNvPr id="0" name=""/>
        <dsp:cNvSpPr/>
      </dsp:nvSpPr>
      <dsp:spPr>
        <a:xfrm>
          <a:off x="4969992" y="504082"/>
          <a:ext cx="810000" cy="8100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6A78B590-6D6D-489F-87C9-6D13DA16DE3A}">
      <dsp:nvSpPr>
        <dsp:cNvPr id="0" name=""/>
        <dsp:cNvSpPr/>
      </dsp:nvSpPr>
      <dsp:spPr>
        <a:xfrm>
          <a:off x="4474992" y="1584095"/>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n-GB" sz="1500" kern="1200"/>
            <a:t>Solid Oxide Electrolysis Cells (SOEC)</a:t>
          </a:r>
          <a:endParaRPr lang="en-US" sz="1500" kern="1200"/>
        </a:p>
      </dsp:txBody>
      <dsp:txXfrm>
        <a:off x="4474992" y="1584095"/>
        <a:ext cx="1800000" cy="720000"/>
      </dsp:txXfrm>
    </dsp:sp>
    <dsp:sp modelId="{2DFEDFEE-0869-4010-88CE-5D0DFA945DE6}">
      <dsp:nvSpPr>
        <dsp:cNvPr id="0" name=""/>
        <dsp:cNvSpPr/>
      </dsp:nvSpPr>
      <dsp:spPr>
        <a:xfrm>
          <a:off x="7084992" y="504082"/>
          <a:ext cx="810000" cy="810000"/>
        </a:xfrm>
        <a:prstGeom prst="rect">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E34BDC2E-6061-435A-9763-916067835F2C}">
      <dsp:nvSpPr>
        <dsp:cNvPr id="0" name=""/>
        <dsp:cNvSpPr/>
      </dsp:nvSpPr>
      <dsp:spPr>
        <a:xfrm>
          <a:off x="6589992" y="1584095"/>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n-GB" sz="1500" kern="1200"/>
            <a:t>Microbial Electrolysis Cells (MEC) </a:t>
          </a:r>
          <a:endParaRPr lang="en-US" sz="1500" kern="1200"/>
        </a:p>
      </dsp:txBody>
      <dsp:txXfrm>
        <a:off x="6589992" y="1584095"/>
        <a:ext cx="1800000" cy="7200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5127808-C6DF-44CF-940D-685FF55E3315}">
      <dsp:nvSpPr>
        <dsp:cNvPr id="0" name=""/>
        <dsp:cNvSpPr/>
      </dsp:nvSpPr>
      <dsp:spPr>
        <a:xfrm>
          <a:off x="1218792" y="814841"/>
          <a:ext cx="706623" cy="706623"/>
        </a:xfrm>
        <a:prstGeom prst="round2DiagRect">
          <a:avLst>
            <a:gd name="adj1" fmla="val 29727"/>
            <a:gd name="adj2" fmla="val 0"/>
          </a:avLst>
        </a:prstGeom>
        <a:noFill/>
        <a:ln>
          <a:noFill/>
        </a:ln>
        <a:effectLst/>
      </dsp:spPr>
      <dsp:style>
        <a:lnRef idx="0">
          <a:scrgbClr r="0" g="0" b="0"/>
        </a:lnRef>
        <a:fillRef idx="1">
          <a:scrgbClr r="0" g="0" b="0"/>
        </a:fillRef>
        <a:effectRef idx="0">
          <a:scrgbClr r="0" g="0" b="0"/>
        </a:effectRef>
        <a:fontRef idx="minor"/>
      </dsp:style>
    </dsp:sp>
    <dsp:sp modelId="{2FF81DCF-7D97-4B68-922B-976AD0A203AE}">
      <dsp:nvSpPr>
        <dsp:cNvPr id="0" name=""/>
        <dsp:cNvSpPr/>
      </dsp:nvSpPr>
      <dsp:spPr>
        <a:xfrm>
          <a:off x="1369383" y="1005928"/>
          <a:ext cx="405439" cy="40543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3C0B2A7A-04B7-4832-AB62-E620049E9598}">
      <dsp:nvSpPr>
        <dsp:cNvPr id="0" name=""/>
        <dsp:cNvSpPr/>
      </dsp:nvSpPr>
      <dsp:spPr>
        <a:xfrm>
          <a:off x="4313" y="1758519"/>
          <a:ext cx="3170884" cy="4633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defRPr cap="all"/>
          </a:pPr>
          <a:r>
            <a:rPr lang="en-US" sz="1200" kern="1200" dirty="0"/>
            <a:t>Combustion 286 kJ/mol</a:t>
          </a:r>
        </a:p>
      </dsp:txBody>
      <dsp:txXfrm>
        <a:off x="4313" y="1758519"/>
        <a:ext cx="3170884" cy="463359"/>
      </dsp:txXfrm>
    </dsp:sp>
    <dsp:sp modelId="{0E33C457-D408-4B4D-AE53-E051DEB6A5BE}">
      <dsp:nvSpPr>
        <dsp:cNvPr id="0" name=""/>
        <dsp:cNvSpPr/>
      </dsp:nvSpPr>
      <dsp:spPr>
        <a:xfrm>
          <a:off x="3903907" y="867803"/>
          <a:ext cx="706623" cy="706623"/>
        </a:xfrm>
        <a:prstGeom prst="round2DiagRect">
          <a:avLst>
            <a:gd name="adj1" fmla="val 29727"/>
            <a:gd name="adj2" fmla="val 0"/>
          </a:avLst>
        </a:prstGeom>
        <a:noFill/>
        <a:ln>
          <a:noFill/>
        </a:ln>
        <a:effectLst/>
      </dsp:spPr>
      <dsp:style>
        <a:lnRef idx="0">
          <a:scrgbClr r="0" g="0" b="0"/>
        </a:lnRef>
        <a:fillRef idx="1">
          <a:scrgbClr r="0" g="0" b="0"/>
        </a:fillRef>
        <a:effectRef idx="0">
          <a:scrgbClr r="0" g="0" b="0"/>
        </a:effectRef>
        <a:fontRef idx="minor"/>
      </dsp:style>
    </dsp:sp>
    <dsp:sp modelId="{533963C0-7759-46E1-A601-539E82E4F306}">
      <dsp:nvSpPr>
        <dsp:cNvPr id="0" name=""/>
        <dsp:cNvSpPr/>
      </dsp:nvSpPr>
      <dsp:spPr>
        <a:xfrm>
          <a:off x="4012018" y="923589"/>
          <a:ext cx="576701" cy="605430"/>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6C97CD92-B035-4E85-BBED-23FF679B00DC}">
      <dsp:nvSpPr>
        <dsp:cNvPr id="0" name=""/>
        <dsp:cNvSpPr/>
      </dsp:nvSpPr>
      <dsp:spPr>
        <a:xfrm>
          <a:off x="3377917" y="1758519"/>
          <a:ext cx="1871832" cy="4633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kern="1200" dirty="0"/>
            <a:t>H2-ICE 55% mechanical efficiency</a:t>
          </a:r>
          <a:r>
            <a:rPr lang="en-GB" sz="1100" kern="1200" dirty="0"/>
            <a:t>)</a:t>
          </a:r>
          <a:endParaRPr lang="en-US" sz="1100" kern="1200" dirty="0"/>
        </a:p>
      </dsp:txBody>
      <dsp:txXfrm>
        <a:off x="3377917" y="1758519"/>
        <a:ext cx="1871832" cy="463359"/>
      </dsp:txXfrm>
    </dsp:sp>
    <dsp:sp modelId="{CA5299B4-D2A2-42E6-928D-9844DE93E663}">
      <dsp:nvSpPr>
        <dsp:cNvPr id="0" name=""/>
        <dsp:cNvSpPr/>
      </dsp:nvSpPr>
      <dsp:spPr>
        <a:xfrm>
          <a:off x="6440688" y="831800"/>
          <a:ext cx="706623" cy="706623"/>
        </a:xfrm>
        <a:prstGeom prst="round2DiagRect">
          <a:avLst>
            <a:gd name="adj1" fmla="val 29727"/>
            <a:gd name="adj2" fmla="val 0"/>
          </a:avLst>
        </a:prstGeom>
        <a:noFill/>
        <a:ln>
          <a:noFill/>
        </a:ln>
        <a:effectLst/>
      </dsp:spPr>
      <dsp:style>
        <a:lnRef idx="0">
          <a:scrgbClr r="0" g="0" b="0"/>
        </a:lnRef>
        <a:fillRef idx="1">
          <a:scrgbClr r="0" g="0" b="0"/>
        </a:fillRef>
        <a:effectRef idx="0">
          <a:scrgbClr r="0" g="0" b="0"/>
        </a:effectRef>
        <a:fontRef idx="minor"/>
      </dsp:style>
    </dsp:sp>
    <dsp:sp modelId="{44CBF2B4-43C5-4D32-92BD-ED6222BF2036}">
      <dsp:nvSpPr>
        <dsp:cNvPr id="0" name=""/>
        <dsp:cNvSpPr/>
      </dsp:nvSpPr>
      <dsp:spPr>
        <a:xfrm>
          <a:off x="6591279" y="982392"/>
          <a:ext cx="405439" cy="40543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5CFA9FDA-B2A1-49A1-916A-6A03A92532C8}">
      <dsp:nvSpPr>
        <dsp:cNvPr id="0" name=""/>
        <dsp:cNvSpPr/>
      </dsp:nvSpPr>
      <dsp:spPr>
        <a:xfrm>
          <a:off x="5452469" y="1758519"/>
          <a:ext cx="2683059" cy="4633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kern="1200" dirty="0"/>
            <a:t>PEMFC: 65% electrical efficiency</a:t>
          </a:r>
        </a:p>
      </dsp:txBody>
      <dsp:txXfrm>
        <a:off x="5452469" y="1758519"/>
        <a:ext cx="2683059" cy="463359"/>
      </dsp:txXfrm>
    </dsp:sp>
    <dsp:sp modelId="{0567729E-50D9-44B9-89C3-D4F9AD55EA0E}">
      <dsp:nvSpPr>
        <dsp:cNvPr id="0" name=""/>
        <dsp:cNvSpPr/>
      </dsp:nvSpPr>
      <dsp:spPr>
        <a:xfrm>
          <a:off x="8564136" y="831800"/>
          <a:ext cx="706623" cy="706623"/>
        </a:xfrm>
        <a:prstGeom prst="round2DiagRect">
          <a:avLst>
            <a:gd name="adj1" fmla="val 29727"/>
            <a:gd name="adj2" fmla="val 0"/>
          </a:avLst>
        </a:prstGeom>
        <a:noFill/>
        <a:ln>
          <a:noFill/>
        </a:ln>
        <a:effectLst/>
      </dsp:spPr>
      <dsp:style>
        <a:lnRef idx="0">
          <a:scrgbClr r="0" g="0" b="0"/>
        </a:lnRef>
        <a:fillRef idx="1">
          <a:scrgbClr r="0" g="0" b="0"/>
        </a:fillRef>
        <a:effectRef idx="0">
          <a:scrgbClr r="0" g="0" b="0"/>
        </a:effectRef>
        <a:fontRef idx="minor"/>
      </dsp:style>
    </dsp:sp>
    <dsp:sp modelId="{253CFC22-3B4A-43A5-AF43-D8BEE0DBF523}">
      <dsp:nvSpPr>
        <dsp:cNvPr id="0" name=""/>
        <dsp:cNvSpPr/>
      </dsp:nvSpPr>
      <dsp:spPr>
        <a:xfrm>
          <a:off x="9095521" y="888237"/>
          <a:ext cx="405439" cy="405439"/>
        </a:xfrm>
        <a:prstGeom prst="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3729B4EB-301E-4166-8E42-E09D888BF7C4}">
      <dsp:nvSpPr>
        <dsp:cNvPr id="0" name=""/>
        <dsp:cNvSpPr/>
      </dsp:nvSpPr>
      <dsp:spPr>
        <a:xfrm>
          <a:off x="8338248" y="1758519"/>
          <a:ext cx="1158398" cy="4633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endParaRPr lang="en-US" sz="1100" kern="1200"/>
        </a:p>
      </dsp:txBody>
      <dsp:txXfrm>
        <a:off x="8338248" y="1758519"/>
        <a:ext cx="1158398" cy="463359"/>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4.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09EE5A-7127-1ECC-CFEF-D0BE0BDA89E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B360BABD-452B-FB6D-BC04-93563F3E61C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4BFF92C2-F89D-C887-F18C-34CCDD93E350}"/>
              </a:ext>
            </a:extLst>
          </p:cNvPr>
          <p:cNvSpPr>
            <a:spLocks noGrp="1"/>
          </p:cNvSpPr>
          <p:nvPr>
            <p:ph type="dt" sz="half" idx="10"/>
          </p:nvPr>
        </p:nvSpPr>
        <p:spPr/>
        <p:txBody>
          <a:bodyPr/>
          <a:lstStyle/>
          <a:p>
            <a:fld id="{859CC85C-15AA-454E-9153-F57AF8B9DC88}" type="datetimeFigureOut">
              <a:rPr lang="en-GB" smtClean="0"/>
              <a:t>24/07/2025</a:t>
            </a:fld>
            <a:endParaRPr lang="en-GB"/>
          </a:p>
        </p:txBody>
      </p:sp>
      <p:sp>
        <p:nvSpPr>
          <p:cNvPr id="5" name="Footer Placeholder 4">
            <a:extLst>
              <a:ext uri="{FF2B5EF4-FFF2-40B4-BE49-F238E27FC236}">
                <a16:creationId xmlns:a16="http://schemas.microsoft.com/office/drawing/2014/main" id="{824A814D-5984-154F-5D8A-45DF7F784CF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6EFA11A-9B22-9DAB-BDD7-5783677E7709}"/>
              </a:ext>
            </a:extLst>
          </p:cNvPr>
          <p:cNvSpPr>
            <a:spLocks noGrp="1"/>
          </p:cNvSpPr>
          <p:nvPr>
            <p:ph type="sldNum" sz="quarter" idx="12"/>
          </p:nvPr>
        </p:nvSpPr>
        <p:spPr/>
        <p:txBody>
          <a:bodyPr/>
          <a:lstStyle/>
          <a:p>
            <a:fld id="{669B9F09-FD1F-430B-91CE-09F4E49E07BB}" type="slidenum">
              <a:rPr lang="en-GB" smtClean="0"/>
              <a:t>‹#›</a:t>
            </a:fld>
            <a:endParaRPr lang="en-GB"/>
          </a:p>
        </p:txBody>
      </p:sp>
    </p:spTree>
    <p:extLst>
      <p:ext uri="{BB962C8B-B14F-4D97-AF65-F5344CB8AC3E}">
        <p14:creationId xmlns:p14="http://schemas.microsoft.com/office/powerpoint/2010/main" val="20566411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FABBAD-9F34-441A-49B1-65C676E22C3A}"/>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FAA22EBE-39FA-AA29-0FA3-8B11A215400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2107E6D-3E9F-696A-BCEB-EB25607CFB0D}"/>
              </a:ext>
            </a:extLst>
          </p:cNvPr>
          <p:cNvSpPr>
            <a:spLocks noGrp="1"/>
          </p:cNvSpPr>
          <p:nvPr>
            <p:ph type="dt" sz="half" idx="10"/>
          </p:nvPr>
        </p:nvSpPr>
        <p:spPr/>
        <p:txBody>
          <a:bodyPr/>
          <a:lstStyle/>
          <a:p>
            <a:fld id="{859CC85C-15AA-454E-9153-F57AF8B9DC88}" type="datetimeFigureOut">
              <a:rPr lang="en-GB" smtClean="0"/>
              <a:t>24/07/2025</a:t>
            </a:fld>
            <a:endParaRPr lang="en-GB"/>
          </a:p>
        </p:txBody>
      </p:sp>
      <p:sp>
        <p:nvSpPr>
          <p:cNvPr id="5" name="Footer Placeholder 4">
            <a:extLst>
              <a:ext uri="{FF2B5EF4-FFF2-40B4-BE49-F238E27FC236}">
                <a16:creationId xmlns:a16="http://schemas.microsoft.com/office/drawing/2014/main" id="{A2DA9FC8-E100-B8B4-EA86-C7A931F2DFD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D9E5B71-2A08-E18E-4108-C4999055C71B}"/>
              </a:ext>
            </a:extLst>
          </p:cNvPr>
          <p:cNvSpPr>
            <a:spLocks noGrp="1"/>
          </p:cNvSpPr>
          <p:nvPr>
            <p:ph type="sldNum" sz="quarter" idx="12"/>
          </p:nvPr>
        </p:nvSpPr>
        <p:spPr/>
        <p:txBody>
          <a:bodyPr/>
          <a:lstStyle/>
          <a:p>
            <a:fld id="{669B9F09-FD1F-430B-91CE-09F4E49E07BB}" type="slidenum">
              <a:rPr lang="en-GB" smtClean="0"/>
              <a:t>‹#›</a:t>
            </a:fld>
            <a:endParaRPr lang="en-GB"/>
          </a:p>
        </p:txBody>
      </p:sp>
    </p:spTree>
    <p:extLst>
      <p:ext uri="{BB962C8B-B14F-4D97-AF65-F5344CB8AC3E}">
        <p14:creationId xmlns:p14="http://schemas.microsoft.com/office/powerpoint/2010/main" val="16673541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F17B7-448F-B6C2-96B9-E155EC293AF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8B07EA36-7BA7-171C-22E6-055A6934D7F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3F75E3B-5426-548D-B034-7F35842FE83C}"/>
              </a:ext>
            </a:extLst>
          </p:cNvPr>
          <p:cNvSpPr>
            <a:spLocks noGrp="1"/>
          </p:cNvSpPr>
          <p:nvPr>
            <p:ph type="dt" sz="half" idx="10"/>
          </p:nvPr>
        </p:nvSpPr>
        <p:spPr/>
        <p:txBody>
          <a:bodyPr/>
          <a:lstStyle/>
          <a:p>
            <a:fld id="{859CC85C-15AA-454E-9153-F57AF8B9DC88}" type="datetimeFigureOut">
              <a:rPr lang="en-GB" smtClean="0"/>
              <a:t>24/07/2025</a:t>
            </a:fld>
            <a:endParaRPr lang="en-GB"/>
          </a:p>
        </p:txBody>
      </p:sp>
      <p:sp>
        <p:nvSpPr>
          <p:cNvPr id="5" name="Footer Placeholder 4">
            <a:extLst>
              <a:ext uri="{FF2B5EF4-FFF2-40B4-BE49-F238E27FC236}">
                <a16:creationId xmlns:a16="http://schemas.microsoft.com/office/drawing/2014/main" id="{D1A28115-0C2B-93EF-6A5F-B7B7EDE9B57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E4DEC24-1566-CBCB-6A59-F5E6D643B2BE}"/>
              </a:ext>
            </a:extLst>
          </p:cNvPr>
          <p:cNvSpPr>
            <a:spLocks noGrp="1"/>
          </p:cNvSpPr>
          <p:nvPr>
            <p:ph type="sldNum" sz="quarter" idx="12"/>
          </p:nvPr>
        </p:nvSpPr>
        <p:spPr/>
        <p:txBody>
          <a:bodyPr/>
          <a:lstStyle/>
          <a:p>
            <a:fld id="{669B9F09-FD1F-430B-91CE-09F4E49E07BB}" type="slidenum">
              <a:rPr lang="en-GB" smtClean="0"/>
              <a:t>‹#›</a:t>
            </a:fld>
            <a:endParaRPr lang="en-GB"/>
          </a:p>
        </p:txBody>
      </p:sp>
    </p:spTree>
    <p:extLst>
      <p:ext uri="{BB962C8B-B14F-4D97-AF65-F5344CB8AC3E}">
        <p14:creationId xmlns:p14="http://schemas.microsoft.com/office/powerpoint/2010/main" val="13818985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39A06-8E57-E8D6-C9D7-F04ECA2E278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B2656020-262A-6B45-B2E7-46BB49A9A8E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00E5BF61-3D62-2244-06EB-13B0F6964D0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E56D6C08-A962-D120-A47F-47F3FF3CC428}"/>
              </a:ext>
            </a:extLst>
          </p:cNvPr>
          <p:cNvSpPr>
            <a:spLocks noGrp="1"/>
          </p:cNvSpPr>
          <p:nvPr>
            <p:ph type="dt" sz="half" idx="10"/>
          </p:nvPr>
        </p:nvSpPr>
        <p:spPr/>
        <p:txBody>
          <a:bodyPr/>
          <a:lstStyle/>
          <a:p>
            <a:fld id="{859CC85C-15AA-454E-9153-F57AF8B9DC88}" type="datetimeFigureOut">
              <a:rPr lang="en-GB" smtClean="0"/>
              <a:t>24/07/2025</a:t>
            </a:fld>
            <a:endParaRPr lang="en-GB"/>
          </a:p>
        </p:txBody>
      </p:sp>
      <p:sp>
        <p:nvSpPr>
          <p:cNvPr id="6" name="Footer Placeholder 5">
            <a:extLst>
              <a:ext uri="{FF2B5EF4-FFF2-40B4-BE49-F238E27FC236}">
                <a16:creationId xmlns:a16="http://schemas.microsoft.com/office/drawing/2014/main" id="{91601371-E480-2598-15F6-7DA2EBCA843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27F8F9A9-09AC-4698-20B4-906A1059916A}"/>
              </a:ext>
            </a:extLst>
          </p:cNvPr>
          <p:cNvSpPr>
            <a:spLocks noGrp="1"/>
          </p:cNvSpPr>
          <p:nvPr>
            <p:ph type="sldNum" sz="quarter" idx="12"/>
          </p:nvPr>
        </p:nvSpPr>
        <p:spPr/>
        <p:txBody>
          <a:bodyPr/>
          <a:lstStyle/>
          <a:p>
            <a:fld id="{669B9F09-FD1F-430B-91CE-09F4E49E07BB}" type="slidenum">
              <a:rPr lang="en-GB" smtClean="0"/>
              <a:t>‹#›</a:t>
            </a:fld>
            <a:endParaRPr lang="en-GB"/>
          </a:p>
        </p:txBody>
      </p:sp>
    </p:spTree>
    <p:extLst>
      <p:ext uri="{BB962C8B-B14F-4D97-AF65-F5344CB8AC3E}">
        <p14:creationId xmlns:p14="http://schemas.microsoft.com/office/powerpoint/2010/main" val="36550214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DDE8E-8D95-7525-45DE-6029C0D065F1}"/>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A00EAB19-B93D-1728-F0AC-2351A8ECDF9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72F10A3-1404-B750-6309-B261B5A2A01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1B51FB2B-A4C0-335C-E951-572786E0683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C5FF7C8-A140-3D66-F57C-1E8929F5632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4086EE81-B00A-D0DF-8011-EBC369D58D33}"/>
              </a:ext>
            </a:extLst>
          </p:cNvPr>
          <p:cNvSpPr>
            <a:spLocks noGrp="1"/>
          </p:cNvSpPr>
          <p:nvPr>
            <p:ph type="dt" sz="half" idx="10"/>
          </p:nvPr>
        </p:nvSpPr>
        <p:spPr/>
        <p:txBody>
          <a:bodyPr/>
          <a:lstStyle/>
          <a:p>
            <a:fld id="{859CC85C-15AA-454E-9153-F57AF8B9DC88}" type="datetimeFigureOut">
              <a:rPr lang="en-GB" smtClean="0"/>
              <a:t>24/07/2025</a:t>
            </a:fld>
            <a:endParaRPr lang="en-GB"/>
          </a:p>
        </p:txBody>
      </p:sp>
      <p:sp>
        <p:nvSpPr>
          <p:cNvPr id="8" name="Footer Placeholder 7">
            <a:extLst>
              <a:ext uri="{FF2B5EF4-FFF2-40B4-BE49-F238E27FC236}">
                <a16:creationId xmlns:a16="http://schemas.microsoft.com/office/drawing/2014/main" id="{159805B4-52E3-AB60-E7D3-02505479CB3E}"/>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765ADB05-FC09-1CC0-C316-31C9BCE3B94F}"/>
              </a:ext>
            </a:extLst>
          </p:cNvPr>
          <p:cNvSpPr>
            <a:spLocks noGrp="1"/>
          </p:cNvSpPr>
          <p:nvPr>
            <p:ph type="sldNum" sz="quarter" idx="12"/>
          </p:nvPr>
        </p:nvSpPr>
        <p:spPr/>
        <p:txBody>
          <a:bodyPr/>
          <a:lstStyle/>
          <a:p>
            <a:fld id="{669B9F09-FD1F-430B-91CE-09F4E49E07BB}" type="slidenum">
              <a:rPr lang="en-GB" smtClean="0"/>
              <a:t>‹#›</a:t>
            </a:fld>
            <a:endParaRPr lang="en-GB"/>
          </a:p>
        </p:txBody>
      </p:sp>
    </p:spTree>
    <p:extLst>
      <p:ext uri="{BB962C8B-B14F-4D97-AF65-F5344CB8AC3E}">
        <p14:creationId xmlns:p14="http://schemas.microsoft.com/office/powerpoint/2010/main" val="38231840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598A2-AA71-BE20-B035-7B7D762DEC8B}"/>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F36AE973-E2BC-1AA6-98AE-506860C54E31}"/>
              </a:ext>
            </a:extLst>
          </p:cNvPr>
          <p:cNvSpPr>
            <a:spLocks noGrp="1"/>
          </p:cNvSpPr>
          <p:nvPr>
            <p:ph type="dt" sz="half" idx="10"/>
          </p:nvPr>
        </p:nvSpPr>
        <p:spPr/>
        <p:txBody>
          <a:bodyPr/>
          <a:lstStyle/>
          <a:p>
            <a:fld id="{859CC85C-15AA-454E-9153-F57AF8B9DC88}" type="datetimeFigureOut">
              <a:rPr lang="en-GB" smtClean="0"/>
              <a:t>24/07/2025</a:t>
            </a:fld>
            <a:endParaRPr lang="en-GB"/>
          </a:p>
        </p:txBody>
      </p:sp>
      <p:sp>
        <p:nvSpPr>
          <p:cNvPr id="4" name="Footer Placeholder 3">
            <a:extLst>
              <a:ext uri="{FF2B5EF4-FFF2-40B4-BE49-F238E27FC236}">
                <a16:creationId xmlns:a16="http://schemas.microsoft.com/office/drawing/2014/main" id="{EF3939C2-BBB7-9824-5B30-7E72BEC5E580}"/>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5CF94B35-990B-40D9-B722-909CDF3FC662}"/>
              </a:ext>
            </a:extLst>
          </p:cNvPr>
          <p:cNvSpPr>
            <a:spLocks noGrp="1"/>
          </p:cNvSpPr>
          <p:nvPr>
            <p:ph type="sldNum" sz="quarter" idx="12"/>
          </p:nvPr>
        </p:nvSpPr>
        <p:spPr/>
        <p:txBody>
          <a:bodyPr/>
          <a:lstStyle/>
          <a:p>
            <a:fld id="{669B9F09-FD1F-430B-91CE-09F4E49E07BB}" type="slidenum">
              <a:rPr lang="en-GB" smtClean="0"/>
              <a:t>‹#›</a:t>
            </a:fld>
            <a:endParaRPr lang="en-GB"/>
          </a:p>
        </p:txBody>
      </p:sp>
    </p:spTree>
    <p:extLst>
      <p:ext uri="{BB962C8B-B14F-4D97-AF65-F5344CB8AC3E}">
        <p14:creationId xmlns:p14="http://schemas.microsoft.com/office/powerpoint/2010/main" val="20965744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0F6013A-4DE3-6E51-02B0-0F0E2EF26398}"/>
              </a:ext>
            </a:extLst>
          </p:cNvPr>
          <p:cNvSpPr>
            <a:spLocks noGrp="1"/>
          </p:cNvSpPr>
          <p:nvPr>
            <p:ph type="dt" sz="half" idx="10"/>
          </p:nvPr>
        </p:nvSpPr>
        <p:spPr/>
        <p:txBody>
          <a:bodyPr/>
          <a:lstStyle/>
          <a:p>
            <a:fld id="{859CC85C-15AA-454E-9153-F57AF8B9DC88}" type="datetimeFigureOut">
              <a:rPr lang="en-GB" smtClean="0"/>
              <a:t>24/07/2025</a:t>
            </a:fld>
            <a:endParaRPr lang="en-GB"/>
          </a:p>
        </p:txBody>
      </p:sp>
      <p:sp>
        <p:nvSpPr>
          <p:cNvPr id="3" name="Footer Placeholder 2">
            <a:extLst>
              <a:ext uri="{FF2B5EF4-FFF2-40B4-BE49-F238E27FC236}">
                <a16:creationId xmlns:a16="http://schemas.microsoft.com/office/drawing/2014/main" id="{69A3D3C4-A8A2-273A-EB43-13BAFC237C76}"/>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F14856B-2883-6D5D-D866-77CA2F549183}"/>
              </a:ext>
            </a:extLst>
          </p:cNvPr>
          <p:cNvSpPr>
            <a:spLocks noGrp="1"/>
          </p:cNvSpPr>
          <p:nvPr>
            <p:ph type="sldNum" sz="quarter" idx="12"/>
          </p:nvPr>
        </p:nvSpPr>
        <p:spPr/>
        <p:txBody>
          <a:bodyPr/>
          <a:lstStyle/>
          <a:p>
            <a:fld id="{669B9F09-FD1F-430B-91CE-09F4E49E07BB}" type="slidenum">
              <a:rPr lang="en-GB" smtClean="0"/>
              <a:t>‹#›</a:t>
            </a:fld>
            <a:endParaRPr lang="en-GB"/>
          </a:p>
        </p:txBody>
      </p:sp>
    </p:spTree>
    <p:extLst>
      <p:ext uri="{BB962C8B-B14F-4D97-AF65-F5344CB8AC3E}">
        <p14:creationId xmlns:p14="http://schemas.microsoft.com/office/powerpoint/2010/main" val="17152275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BBAF8E-0072-4A90-F692-2A539464C1F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7AF3FCBD-3024-0B63-4ABC-30353D374C7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5DE1A7CF-F7DE-ED27-4E77-C398714FEB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4730A47-1983-1A3B-696C-89AEAAEEA8FE}"/>
              </a:ext>
            </a:extLst>
          </p:cNvPr>
          <p:cNvSpPr>
            <a:spLocks noGrp="1"/>
          </p:cNvSpPr>
          <p:nvPr>
            <p:ph type="dt" sz="half" idx="10"/>
          </p:nvPr>
        </p:nvSpPr>
        <p:spPr/>
        <p:txBody>
          <a:bodyPr/>
          <a:lstStyle/>
          <a:p>
            <a:fld id="{859CC85C-15AA-454E-9153-F57AF8B9DC88}" type="datetimeFigureOut">
              <a:rPr lang="en-GB" smtClean="0"/>
              <a:t>24/07/2025</a:t>
            </a:fld>
            <a:endParaRPr lang="en-GB"/>
          </a:p>
        </p:txBody>
      </p:sp>
      <p:sp>
        <p:nvSpPr>
          <p:cNvPr id="6" name="Footer Placeholder 5">
            <a:extLst>
              <a:ext uri="{FF2B5EF4-FFF2-40B4-BE49-F238E27FC236}">
                <a16:creationId xmlns:a16="http://schemas.microsoft.com/office/drawing/2014/main" id="{5F71EFA4-C432-A3A8-1B48-2DFDE820BB2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BDB8582-FF5C-6B4D-4311-36F5C3D27CB9}"/>
              </a:ext>
            </a:extLst>
          </p:cNvPr>
          <p:cNvSpPr>
            <a:spLocks noGrp="1"/>
          </p:cNvSpPr>
          <p:nvPr>
            <p:ph type="sldNum" sz="quarter" idx="12"/>
          </p:nvPr>
        </p:nvSpPr>
        <p:spPr/>
        <p:txBody>
          <a:bodyPr/>
          <a:lstStyle/>
          <a:p>
            <a:fld id="{669B9F09-FD1F-430B-91CE-09F4E49E07BB}" type="slidenum">
              <a:rPr lang="en-GB" smtClean="0"/>
              <a:t>‹#›</a:t>
            </a:fld>
            <a:endParaRPr lang="en-GB"/>
          </a:p>
        </p:txBody>
      </p:sp>
    </p:spTree>
    <p:extLst>
      <p:ext uri="{BB962C8B-B14F-4D97-AF65-F5344CB8AC3E}">
        <p14:creationId xmlns:p14="http://schemas.microsoft.com/office/powerpoint/2010/main" val="14427833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9D691E-2906-D9C2-0584-F39F0D8A271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C437FB55-6C58-3D60-156F-EEDF8AA55EE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AEEB9F4C-8B98-9C3D-6D7A-9347231405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3A6E7CC-C80A-0F46-35FF-2A70616C2377}"/>
              </a:ext>
            </a:extLst>
          </p:cNvPr>
          <p:cNvSpPr>
            <a:spLocks noGrp="1"/>
          </p:cNvSpPr>
          <p:nvPr>
            <p:ph type="dt" sz="half" idx="10"/>
          </p:nvPr>
        </p:nvSpPr>
        <p:spPr/>
        <p:txBody>
          <a:bodyPr/>
          <a:lstStyle/>
          <a:p>
            <a:fld id="{859CC85C-15AA-454E-9153-F57AF8B9DC88}" type="datetimeFigureOut">
              <a:rPr lang="en-GB" smtClean="0"/>
              <a:t>24/07/2025</a:t>
            </a:fld>
            <a:endParaRPr lang="en-GB"/>
          </a:p>
        </p:txBody>
      </p:sp>
      <p:sp>
        <p:nvSpPr>
          <p:cNvPr id="6" name="Footer Placeholder 5">
            <a:extLst>
              <a:ext uri="{FF2B5EF4-FFF2-40B4-BE49-F238E27FC236}">
                <a16:creationId xmlns:a16="http://schemas.microsoft.com/office/drawing/2014/main" id="{0CB4EC61-D787-3096-1A53-7A368D31FD3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96CEBFC-D495-110F-AB33-51BD88D66402}"/>
              </a:ext>
            </a:extLst>
          </p:cNvPr>
          <p:cNvSpPr>
            <a:spLocks noGrp="1"/>
          </p:cNvSpPr>
          <p:nvPr>
            <p:ph type="sldNum" sz="quarter" idx="12"/>
          </p:nvPr>
        </p:nvSpPr>
        <p:spPr/>
        <p:txBody>
          <a:bodyPr/>
          <a:lstStyle/>
          <a:p>
            <a:fld id="{669B9F09-FD1F-430B-91CE-09F4E49E07BB}" type="slidenum">
              <a:rPr lang="en-GB" smtClean="0"/>
              <a:t>‹#›</a:t>
            </a:fld>
            <a:endParaRPr lang="en-GB"/>
          </a:p>
        </p:txBody>
      </p:sp>
    </p:spTree>
    <p:extLst>
      <p:ext uri="{BB962C8B-B14F-4D97-AF65-F5344CB8AC3E}">
        <p14:creationId xmlns:p14="http://schemas.microsoft.com/office/powerpoint/2010/main" val="41762651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A8CE58-EA3F-5B38-00B1-370E0433DFC9}"/>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46DD2460-9410-9D6A-B826-08FB1E3B4DC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72234E3-4F36-2907-9C2A-D5309AA41480}"/>
              </a:ext>
            </a:extLst>
          </p:cNvPr>
          <p:cNvSpPr>
            <a:spLocks noGrp="1"/>
          </p:cNvSpPr>
          <p:nvPr>
            <p:ph type="dt" sz="half" idx="10"/>
          </p:nvPr>
        </p:nvSpPr>
        <p:spPr/>
        <p:txBody>
          <a:bodyPr/>
          <a:lstStyle/>
          <a:p>
            <a:fld id="{859CC85C-15AA-454E-9153-F57AF8B9DC88}" type="datetimeFigureOut">
              <a:rPr lang="en-GB" smtClean="0"/>
              <a:t>24/07/2025</a:t>
            </a:fld>
            <a:endParaRPr lang="en-GB"/>
          </a:p>
        </p:txBody>
      </p:sp>
      <p:sp>
        <p:nvSpPr>
          <p:cNvPr id="5" name="Footer Placeholder 4">
            <a:extLst>
              <a:ext uri="{FF2B5EF4-FFF2-40B4-BE49-F238E27FC236}">
                <a16:creationId xmlns:a16="http://schemas.microsoft.com/office/drawing/2014/main" id="{79A1D0B2-DB55-3587-A186-47D6DC005B3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03C46A6-F76C-EE48-9339-9F9165FCC3E2}"/>
              </a:ext>
            </a:extLst>
          </p:cNvPr>
          <p:cNvSpPr>
            <a:spLocks noGrp="1"/>
          </p:cNvSpPr>
          <p:nvPr>
            <p:ph type="sldNum" sz="quarter" idx="12"/>
          </p:nvPr>
        </p:nvSpPr>
        <p:spPr/>
        <p:txBody>
          <a:bodyPr/>
          <a:lstStyle/>
          <a:p>
            <a:fld id="{669B9F09-FD1F-430B-91CE-09F4E49E07BB}" type="slidenum">
              <a:rPr lang="en-GB" smtClean="0"/>
              <a:t>‹#›</a:t>
            </a:fld>
            <a:endParaRPr lang="en-GB"/>
          </a:p>
        </p:txBody>
      </p:sp>
    </p:spTree>
    <p:extLst>
      <p:ext uri="{BB962C8B-B14F-4D97-AF65-F5344CB8AC3E}">
        <p14:creationId xmlns:p14="http://schemas.microsoft.com/office/powerpoint/2010/main" val="12162255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3CA9D12-FBC3-99DD-6AC8-3E7B7C7F771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0422409C-A59E-1C0F-6DD6-478AB71E204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5907695-DCDB-DAFB-8A2C-0FCD1DF4F306}"/>
              </a:ext>
            </a:extLst>
          </p:cNvPr>
          <p:cNvSpPr>
            <a:spLocks noGrp="1"/>
          </p:cNvSpPr>
          <p:nvPr>
            <p:ph type="dt" sz="half" idx="10"/>
          </p:nvPr>
        </p:nvSpPr>
        <p:spPr/>
        <p:txBody>
          <a:bodyPr/>
          <a:lstStyle/>
          <a:p>
            <a:fld id="{859CC85C-15AA-454E-9153-F57AF8B9DC88}" type="datetimeFigureOut">
              <a:rPr lang="en-GB" smtClean="0"/>
              <a:t>24/07/2025</a:t>
            </a:fld>
            <a:endParaRPr lang="en-GB"/>
          </a:p>
        </p:txBody>
      </p:sp>
      <p:sp>
        <p:nvSpPr>
          <p:cNvPr id="5" name="Footer Placeholder 4">
            <a:extLst>
              <a:ext uri="{FF2B5EF4-FFF2-40B4-BE49-F238E27FC236}">
                <a16:creationId xmlns:a16="http://schemas.microsoft.com/office/drawing/2014/main" id="{51F88B55-41FF-C586-E28C-9DD8AF6ABD8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37E8282-8F46-7C6A-FB17-5B89CC4119A8}"/>
              </a:ext>
            </a:extLst>
          </p:cNvPr>
          <p:cNvSpPr>
            <a:spLocks noGrp="1"/>
          </p:cNvSpPr>
          <p:nvPr>
            <p:ph type="sldNum" sz="quarter" idx="12"/>
          </p:nvPr>
        </p:nvSpPr>
        <p:spPr/>
        <p:txBody>
          <a:bodyPr/>
          <a:lstStyle/>
          <a:p>
            <a:fld id="{669B9F09-FD1F-430B-91CE-09F4E49E07BB}" type="slidenum">
              <a:rPr lang="en-GB" smtClean="0"/>
              <a:t>‹#›</a:t>
            </a:fld>
            <a:endParaRPr lang="en-GB"/>
          </a:p>
        </p:txBody>
      </p:sp>
    </p:spTree>
    <p:extLst>
      <p:ext uri="{BB962C8B-B14F-4D97-AF65-F5344CB8AC3E}">
        <p14:creationId xmlns:p14="http://schemas.microsoft.com/office/powerpoint/2010/main" val="23427225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565B363-CDDA-6D19-4B00-0034CCA5E6F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8D1CEC94-6F6F-3E60-BA8E-2060397B18A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B1BE851-7B2D-3329-93AB-56D1FFFA349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59CC85C-15AA-454E-9153-F57AF8B9DC88}" type="datetimeFigureOut">
              <a:rPr lang="en-GB" smtClean="0"/>
              <a:t>24/07/2025</a:t>
            </a:fld>
            <a:endParaRPr lang="en-GB"/>
          </a:p>
        </p:txBody>
      </p:sp>
      <p:sp>
        <p:nvSpPr>
          <p:cNvPr id="5" name="Footer Placeholder 4">
            <a:extLst>
              <a:ext uri="{FF2B5EF4-FFF2-40B4-BE49-F238E27FC236}">
                <a16:creationId xmlns:a16="http://schemas.microsoft.com/office/drawing/2014/main" id="{2D3F21EF-F6AF-6A88-1BE9-EA2AA8B81F0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1875DF3E-2EF2-F639-44B3-F9B68537A6F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69B9F09-FD1F-430B-91CE-09F4E49E07BB}" type="slidenum">
              <a:rPr lang="en-GB" smtClean="0"/>
              <a:t>‹#›</a:t>
            </a:fld>
            <a:endParaRPr lang="en-GB"/>
          </a:p>
        </p:txBody>
      </p:sp>
    </p:spTree>
    <p:extLst>
      <p:ext uri="{BB962C8B-B14F-4D97-AF65-F5344CB8AC3E}">
        <p14:creationId xmlns:p14="http://schemas.microsoft.com/office/powerpoint/2010/main" val="30788043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2.png"/><Relationship Id="rId2" Type="http://schemas.openxmlformats.org/officeDocument/2006/relationships/diagramData" Target="../diagrams/data1.xml"/><Relationship Id="rId1" Type="http://schemas.openxmlformats.org/officeDocument/2006/relationships/slideLayout" Target="../slideLayouts/slideLayout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13.svg"/><Relationship Id="rId7" Type="http://schemas.openxmlformats.org/officeDocument/2006/relationships/diagramColors" Target="../diagrams/colors2.xml"/><Relationship Id="rId2" Type="http://schemas.openxmlformats.org/officeDocument/2006/relationships/image" Target="../media/image12.png"/><Relationship Id="rId1" Type="http://schemas.openxmlformats.org/officeDocument/2006/relationships/slideLayout" Target="../slideLayouts/slideLayout1.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 Id="rId9" Type="http://schemas.openxmlformats.org/officeDocument/2006/relationships/image" Target="../media/image2.png"/></Relationships>
</file>

<file path=ppt/slides/_rels/slide6.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 Id="rId9" Type="http://schemas.openxmlformats.org/officeDocument/2006/relationships/image" Target="../media/image29.svg"/></Relationships>
</file>

<file path=ppt/slides/_rels/slide7.xml.rels><?xml version="1.0" encoding="UTF-8" standalone="yes"?>
<Relationships xmlns="http://schemas.openxmlformats.org/package/2006/relationships"><Relationship Id="rId8" Type="http://schemas.openxmlformats.org/officeDocument/2006/relationships/hyperlink" Target="https://www.sciencedirect.com/topics/chemical-engineering/hydrogen-production" TargetMode="External"/><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diagramColors" Target="../diagrams/colors4.xml"/><Relationship Id="rId5" Type="http://schemas.openxmlformats.org/officeDocument/2006/relationships/diagramQuickStyle" Target="../diagrams/quickStyle4.xml"/><Relationship Id="rId10" Type="http://schemas.openxmlformats.org/officeDocument/2006/relationships/image" Target="../media/image37.svg"/><Relationship Id="rId4" Type="http://schemas.openxmlformats.org/officeDocument/2006/relationships/diagramLayout" Target="../diagrams/layout4.xml"/><Relationship Id="rId9" Type="http://schemas.openxmlformats.org/officeDocument/2006/relationships/image" Target="../media/image36.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8.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42.svg"/><Relationship Id="rId4" Type="http://schemas.openxmlformats.org/officeDocument/2006/relationships/image" Target="../media/image41.png"/></Relationships>
</file>

<file path=ppt/slides/_rels/slide1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1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8.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9.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www.sciencedirect.com/science/article/pii/S0038092X25003743" TargetMode="External"/><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51.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FABA132-270C-6EEE-9DEB-F2093165CEE2}"/>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E91DC736-0EF8-4F87-9146-EBF1D2EE4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solar panels and wind turbines&#10;&#10;AI-generated content may be incorrect.">
            <a:extLst>
              <a:ext uri="{FF2B5EF4-FFF2-40B4-BE49-F238E27FC236}">
                <a16:creationId xmlns:a16="http://schemas.microsoft.com/office/drawing/2014/main" id="{0E61325E-DB2D-A137-02BC-EE50816271EC}"/>
              </a:ext>
            </a:extLst>
          </p:cNvPr>
          <p:cNvPicPr>
            <a:picLocks noChangeAspect="1"/>
          </p:cNvPicPr>
          <p:nvPr/>
        </p:nvPicPr>
        <p:blipFill>
          <a:blip r:embed="rId2">
            <a:extLst>
              <a:ext uri="{28A0092B-C50C-407E-A947-70E740481C1C}">
                <a14:useLocalDpi xmlns:a14="http://schemas.microsoft.com/office/drawing/2010/main" val="0"/>
              </a:ext>
            </a:extLst>
          </a:blip>
          <a:srcRect l="7282" t="9091" r="16016"/>
          <a:stretch>
            <a:fillRect/>
          </a:stretch>
        </p:blipFill>
        <p:spPr>
          <a:xfrm>
            <a:off x="3523488" y="0"/>
            <a:ext cx="8668512" cy="6857990"/>
          </a:xfrm>
          <a:prstGeom prst="rect">
            <a:avLst/>
          </a:prstGeom>
        </p:spPr>
      </p:pic>
      <p:sp>
        <p:nvSpPr>
          <p:cNvPr id="14" name="Rectangle 13">
            <a:extLst>
              <a:ext uri="{FF2B5EF4-FFF2-40B4-BE49-F238E27FC236}">
                <a16:creationId xmlns:a16="http://schemas.microsoft.com/office/drawing/2014/main" id="{097CD68E-23E3-4007-8847-CD0944C4F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6601" cy="6858000"/>
          </a:xfrm>
          <a:prstGeom prst="rect">
            <a:avLst/>
          </a:prstGeom>
          <a:gradFill>
            <a:gsLst>
              <a:gs pos="58000">
                <a:schemeClr val="bg1"/>
              </a:gs>
              <a:gs pos="35000">
                <a:schemeClr val="bg1">
                  <a:alpha val="79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id="{4B2EB4ED-A0AC-485D-F9D3-51F35E33FF1D}"/>
              </a:ext>
            </a:extLst>
          </p:cNvPr>
          <p:cNvSpPr txBox="1"/>
          <p:nvPr/>
        </p:nvSpPr>
        <p:spPr>
          <a:xfrm>
            <a:off x="229821" y="771986"/>
            <a:ext cx="6291560" cy="2300017"/>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3700" dirty="0">
                <a:latin typeface="Times New Roman" panose="02020603050405020304" pitchFamily="18" charset="0"/>
                <a:ea typeface="+mj-ea"/>
                <a:cs typeface="Times New Roman" panose="02020603050405020304" pitchFamily="18" charset="0"/>
              </a:rPr>
              <a:t>Sustainable Energy Production through Electrolyzed Water Using Solar Powered Hydrogen Generation</a:t>
            </a:r>
          </a:p>
        </p:txBody>
      </p:sp>
      <p:sp>
        <p:nvSpPr>
          <p:cNvPr id="16" name="Rectangle 15">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8" name="Rectangle 17">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7" name="Picture 6" descr="A red rectangular sign with white text&#10;&#10;AI-generated content may be incorrect.">
            <a:extLst>
              <a:ext uri="{FF2B5EF4-FFF2-40B4-BE49-F238E27FC236}">
                <a16:creationId xmlns:a16="http://schemas.microsoft.com/office/drawing/2014/main" id="{5179B8A5-6316-3861-4006-E07FBCD6CA86}"/>
              </a:ext>
            </a:extLst>
          </p:cNvPr>
          <p:cNvPicPr>
            <a:picLocks noChangeAspect="1"/>
          </p:cNvPicPr>
          <p:nvPr/>
        </p:nvPicPr>
        <p:blipFill>
          <a:blip r:embed="rId3"/>
          <a:srcRect t="23259" b="23753"/>
          <a:stretch>
            <a:fillRect/>
          </a:stretch>
        </p:blipFill>
        <p:spPr>
          <a:xfrm>
            <a:off x="0" y="5782963"/>
            <a:ext cx="2257425" cy="1075037"/>
          </a:xfrm>
          <a:prstGeom prst="rect">
            <a:avLst/>
          </a:prstGeom>
        </p:spPr>
      </p:pic>
      <p:sp>
        <p:nvSpPr>
          <p:cNvPr id="8" name="Subtitle 2">
            <a:extLst>
              <a:ext uri="{FF2B5EF4-FFF2-40B4-BE49-F238E27FC236}">
                <a16:creationId xmlns:a16="http://schemas.microsoft.com/office/drawing/2014/main" id="{0606F1A8-D3E6-FDB0-42F2-9F550B98AF37}"/>
              </a:ext>
            </a:extLst>
          </p:cNvPr>
          <p:cNvSpPr>
            <a:spLocks noGrp="1"/>
          </p:cNvSpPr>
          <p:nvPr>
            <p:ph type="subTitle" idx="1"/>
          </p:nvPr>
        </p:nvSpPr>
        <p:spPr>
          <a:xfrm>
            <a:off x="229821" y="4667071"/>
            <a:ext cx="5736455" cy="1655762"/>
          </a:xfrm>
        </p:spPr>
        <p:txBody>
          <a:bodyPr>
            <a:normAutofit/>
          </a:bodyPr>
          <a:lstStyle/>
          <a:p>
            <a:pPr algn="l"/>
            <a:r>
              <a:rPr lang="en-GB" sz="1800" dirty="0">
                <a:latin typeface="Times New Roman" panose="02020603050405020304" pitchFamily="18" charset="0"/>
                <a:cs typeface="Times New Roman" panose="02020603050405020304" pitchFamily="18" charset="0"/>
              </a:rPr>
              <a:t>Name: </a:t>
            </a:r>
            <a:r>
              <a:rPr lang="en-GB" sz="1800" dirty="0" err="1">
                <a:latin typeface="Times New Roman" panose="02020603050405020304" pitchFamily="18" charset="0"/>
                <a:cs typeface="Times New Roman" panose="02020603050405020304" pitchFamily="18" charset="0"/>
              </a:rPr>
              <a:t>Tewaratantrige</a:t>
            </a:r>
            <a:r>
              <a:rPr lang="en-GB" sz="1800" dirty="0">
                <a:latin typeface="Times New Roman" panose="02020603050405020304" pitchFamily="18" charset="0"/>
                <a:cs typeface="Times New Roman" panose="02020603050405020304" pitchFamily="18" charset="0"/>
              </a:rPr>
              <a:t> Joshua Fernando </a:t>
            </a:r>
          </a:p>
          <a:p>
            <a:pPr algn="l"/>
            <a:r>
              <a:rPr lang="en-GB" sz="1800" dirty="0">
                <a:latin typeface="Times New Roman" panose="02020603050405020304" pitchFamily="18" charset="0"/>
                <a:cs typeface="Times New Roman" panose="02020603050405020304" pitchFamily="18" charset="0"/>
              </a:rPr>
              <a:t>Student Number: 23022490</a:t>
            </a:r>
          </a:p>
          <a:p>
            <a:pPr algn="l"/>
            <a:r>
              <a:rPr lang="en-GB" sz="1800" dirty="0">
                <a:latin typeface="Times New Roman" panose="02020603050405020304" pitchFamily="18" charset="0"/>
                <a:cs typeface="Times New Roman" panose="02020603050405020304" pitchFamily="18" charset="0"/>
              </a:rPr>
              <a:t>Supervised By: Dr. </a:t>
            </a:r>
            <a:r>
              <a:rPr lang="en-GB" sz="1800" dirty="0" err="1">
                <a:latin typeface="Times New Roman" panose="02020603050405020304" pitchFamily="18" charset="0"/>
                <a:cs typeface="Times New Roman" panose="02020603050405020304" pitchFamily="18" charset="0"/>
              </a:rPr>
              <a:t>Mosayeb</a:t>
            </a:r>
            <a:r>
              <a:rPr lang="en-GB" sz="1800" dirty="0">
                <a:latin typeface="Times New Roman" panose="02020603050405020304" pitchFamily="18" charset="0"/>
                <a:cs typeface="Times New Roman" panose="02020603050405020304" pitchFamily="18" charset="0"/>
              </a:rPr>
              <a:t> Davoudi </a:t>
            </a:r>
            <a:r>
              <a:rPr lang="en-GB" sz="1800" dirty="0" err="1">
                <a:latin typeface="Times New Roman" panose="02020603050405020304" pitchFamily="18" charset="0"/>
                <a:cs typeface="Times New Roman" panose="02020603050405020304" pitchFamily="18" charset="0"/>
              </a:rPr>
              <a:t>Kashkouli</a:t>
            </a:r>
            <a:endParaRPr lang="en-GB" sz="1800" dirty="0">
              <a:latin typeface="Times New Roman" panose="02020603050405020304" pitchFamily="18" charset="0"/>
              <a:cs typeface="Times New Roman" panose="02020603050405020304" pitchFamily="18" charset="0"/>
            </a:endParaRPr>
          </a:p>
        </p:txBody>
      </p:sp>
      <p:sp>
        <p:nvSpPr>
          <p:cNvPr id="9" name="Rectangle 8">
            <a:extLst>
              <a:ext uri="{FF2B5EF4-FFF2-40B4-BE49-F238E27FC236}">
                <a16:creationId xmlns:a16="http://schemas.microsoft.com/office/drawing/2014/main" id="{F21FB982-9DAF-2BAF-D852-F12DFE9F36B2}"/>
              </a:ext>
            </a:extLst>
          </p:cNvPr>
          <p:cNvSpPr/>
          <p:nvPr/>
        </p:nvSpPr>
        <p:spPr>
          <a:xfrm>
            <a:off x="229821" y="4087368"/>
            <a:ext cx="4314747" cy="5486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7693390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4AEDFB-9CB5-3692-5E24-C82B7C0A709B}"/>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EE8B0ED2-5632-1470-2BF5-27414DBA2A9B}"/>
              </a:ext>
            </a:extLst>
          </p:cNvPr>
          <p:cNvSpPr txBox="1">
            <a:spLocks/>
          </p:cNvSpPr>
          <p:nvPr/>
        </p:nvSpPr>
        <p:spPr>
          <a:xfrm>
            <a:off x="-1921546" y="-151157"/>
            <a:ext cx="8229600" cy="114300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GB" dirty="0">
                <a:latin typeface="Times New Roman" panose="02020603050405020304" pitchFamily="18" charset="0"/>
                <a:cs typeface="Times New Roman" panose="02020603050405020304" pitchFamily="18" charset="0"/>
              </a:rPr>
              <a:t>Introduction</a:t>
            </a:r>
          </a:p>
        </p:txBody>
      </p:sp>
      <p:sp>
        <p:nvSpPr>
          <p:cNvPr id="7" name="TextBox 6">
            <a:extLst>
              <a:ext uri="{FF2B5EF4-FFF2-40B4-BE49-F238E27FC236}">
                <a16:creationId xmlns:a16="http://schemas.microsoft.com/office/drawing/2014/main" id="{6019EDE8-4682-1267-D999-E7D23567D1EB}"/>
              </a:ext>
            </a:extLst>
          </p:cNvPr>
          <p:cNvSpPr txBox="1"/>
          <p:nvPr/>
        </p:nvSpPr>
        <p:spPr>
          <a:xfrm>
            <a:off x="4165444" y="1136284"/>
            <a:ext cx="7941212" cy="5166479"/>
          </a:xfrm>
          <a:prstGeom prst="rect">
            <a:avLst/>
          </a:prstGeom>
          <a:noFill/>
        </p:spPr>
        <p:txBody>
          <a:bodyPr wrap="square">
            <a:spAutoFit/>
          </a:bodyPr>
          <a:lstStyle/>
          <a:p>
            <a:pPr>
              <a:lnSpc>
                <a:spcPct val="107000"/>
              </a:lnSpc>
              <a:spcAft>
                <a:spcPts val="800"/>
              </a:spcAft>
              <a:buNone/>
            </a:pPr>
            <a:r>
              <a:rPr lang="en-GB" sz="1800" kern="100" dirty="0">
                <a:effectLst/>
                <a:latin typeface="Times New Roman" panose="02020603050405020304" pitchFamily="18" charset="0"/>
                <a:ea typeface="Aptos" panose="020B0004020202020204" pitchFamily="34" charset="0"/>
                <a:cs typeface="Times New Roman" panose="02020603050405020304" pitchFamily="18" charset="0"/>
              </a:rPr>
              <a:t>Aim:</a:t>
            </a:r>
          </a:p>
          <a:p>
            <a:pPr>
              <a:lnSpc>
                <a:spcPct val="107000"/>
              </a:lnSpc>
              <a:spcAft>
                <a:spcPts val="800"/>
              </a:spcAft>
              <a:buNone/>
            </a:pPr>
            <a:r>
              <a:rPr lang="en-GB" sz="1800" kern="100" dirty="0">
                <a:effectLst/>
                <a:latin typeface="Times New Roman" panose="02020603050405020304" pitchFamily="18" charset="0"/>
                <a:ea typeface="Aptos" panose="020B0004020202020204" pitchFamily="34" charset="0"/>
                <a:cs typeface="Times New Roman" panose="02020603050405020304" pitchFamily="18" charset="0"/>
              </a:rPr>
              <a:t>To design and evaluate a system for generating clean hydrogen energy through the electrolysis of water using solar power for the electrolysis process, with energy recovery via hydrogen combustion or fuel cells.</a:t>
            </a:r>
          </a:p>
          <a:p>
            <a:pPr>
              <a:lnSpc>
                <a:spcPct val="107000"/>
              </a:lnSpc>
              <a:spcAft>
                <a:spcPts val="800"/>
              </a:spcAft>
            </a:pPr>
            <a:r>
              <a:rPr lang="en-GB" sz="1800" kern="100" dirty="0">
                <a:effectLst/>
                <a:latin typeface="Times New Roman" panose="02020603050405020304" pitchFamily="18" charset="0"/>
                <a:ea typeface="Aptos" panose="020B0004020202020204" pitchFamily="34" charset="0"/>
                <a:cs typeface="Times New Roman" panose="02020603050405020304" pitchFamily="18" charset="0"/>
              </a:rPr>
              <a:t>Objectives:</a:t>
            </a:r>
          </a:p>
          <a:p>
            <a:pPr marL="342900" lvl="0" indent="-342900">
              <a:lnSpc>
                <a:spcPct val="107000"/>
              </a:lnSpc>
              <a:buFont typeface="+mj-lt"/>
              <a:buAutoNum type="arabicPeriod"/>
            </a:pPr>
            <a:r>
              <a:rPr lang="en-GB" sz="1800" kern="100" dirty="0">
                <a:effectLst/>
                <a:latin typeface="Times New Roman" panose="02020603050405020304" pitchFamily="18" charset="0"/>
                <a:ea typeface="Aptos" panose="020B0004020202020204" pitchFamily="34" charset="0"/>
                <a:cs typeface="Times New Roman" panose="02020603050405020304" pitchFamily="18" charset="0"/>
              </a:rPr>
              <a:t>Review current technologies for solar electrolysis and hydrogen fuel systems.</a:t>
            </a:r>
          </a:p>
          <a:p>
            <a:pPr marL="342900" lvl="0" indent="-342900">
              <a:lnSpc>
                <a:spcPct val="107000"/>
              </a:lnSpc>
              <a:buFont typeface="+mj-lt"/>
              <a:buAutoNum type="arabicPeriod"/>
            </a:pPr>
            <a:r>
              <a:rPr lang="en-GB" sz="1800" kern="100" dirty="0">
                <a:effectLst/>
                <a:latin typeface="Times New Roman" panose="02020603050405020304" pitchFamily="18" charset="0"/>
                <a:ea typeface="Aptos" panose="020B0004020202020204" pitchFamily="34" charset="0"/>
                <a:cs typeface="Times New Roman" panose="02020603050405020304" pitchFamily="18" charset="0"/>
              </a:rPr>
              <a:t>Theoretical framework simulating solar-powered water electrolysis.</a:t>
            </a:r>
          </a:p>
          <a:p>
            <a:pPr marL="342900" lvl="0" indent="-342900">
              <a:lnSpc>
                <a:spcPct val="107000"/>
              </a:lnSpc>
              <a:buFont typeface="+mj-lt"/>
              <a:buAutoNum type="arabicPeriod"/>
            </a:pPr>
            <a:r>
              <a:rPr lang="en-GB" sz="1800" kern="100" dirty="0">
                <a:effectLst/>
                <a:latin typeface="Times New Roman" panose="02020603050405020304" pitchFamily="18" charset="0"/>
                <a:ea typeface="Aptos" panose="020B0004020202020204" pitchFamily="34" charset="0"/>
                <a:cs typeface="Times New Roman" panose="02020603050405020304" pitchFamily="18" charset="0"/>
              </a:rPr>
              <a:t>Calculate energy balances across the electrolysis and hydrogen usage processes.</a:t>
            </a:r>
          </a:p>
          <a:p>
            <a:pPr marL="342900" lvl="0" indent="-342900">
              <a:lnSpc>
                <a:spcPct val="107000"/>
              </a:lnSpc>
              <a:buFont typeface="+mj-lt"/>
              <a:buAutoNum type="arabicPeriod"/>
            </a:pPr>
            <a:r>
              <a:rPr lang="en-GB" sz="1800" kern="100" dirty="0">
                <a:effectLst/>
                <a:latin typeface="Times New Roman" panose="02020603050405020304" pitchFamily="18" charset="0"/>
                <a:ea typeface="Aptos" panose="020B0004020202020204" pitchFamily="34" charset="0"/>
                <a:cs typeface="Times New Roman" panose="02020603050405020304" pitchFamily="18" charset="0"/>
              </a:rPr>
              <a:t>Compare energy recovery between combustion and fuel cell systems.</a:t>
            </a:r>
          </a:p>
          <a:p>
            <a:pPr marL="342900" lvl="0" indent="-342900">
              <a:lnSpc>
                <a:spcPct val="107000"/>
              </a:lnSpc>
              <a:buFont typeface="+mj-lt"/>
              <a:buAutoNum type="arabicPeriod"/>
            </a:pPr>
            <a:r>
              <a:rPr lang="en-GB" sz="1800" kern="100" dirty="0">
                <a:effectLst/>
                <a:latin typeface="Times New Roman" panose="02020603050405020304" pitchFamily="18" charset="0"/>
                <a:ea typeface="Aptos" panose="020B0004020202020204" pitchFamily="34" charset="0"/>
                <a:cs typeface="Times New Roman" panose="02020603050405020304" pitchFamily="18" charset="0"/>
              </a:rPr>
              <a:t>Assess the environmental and economic feasibility of the system.</a:t>
            </a:r>
          </a:p>
          <a:p>
            <a:pPr marL="342900" lvl="0" indent="-342900">
              <a:lnSpc>
                <a:spcPct val="107000"/>
              </a:lnSpc>
              <a:buFont typeface="+mj-lt"/>
              <a:buAutoNum type="arabicPeriod"/>
            </a:pPr>
            <a:r>
              <a:rPr lang="en-GB" sz="1800" kern="100" dirty="0">
                <a:effectLst/>
                <a:latin typeface="Times New Roman" panose="02020603050405020304" pitchFamily="18" charset="0"/>
                <a:ea typeface="Aptos" panose="020B0004020202020204" pitchFamily="34" charset="0"/>
                <a:cs typeface="Times New Roman" panose="02020603050405020304" pitchFamily="18" charset="0"/>
              </a:rPr>
              <a:t>Ways of increasing hydrogen production efficiency through electrolysis. </a:t>
            </a:r>
          </a:p>
          <a:p>
            <a:pPr marL="342900" lvl="0" indent="-342900">
              <a:lnSpc>
                <a:spcPct val="107000"/>
              </a:lnSpc>
              <a:spcAft>
                <a:spcPts val="800"/>
              </a:spcAft>
              <a:buFont typeface="+mj-lt"/>
              <a:buAutoNum type="arabicPeriod"/>
            </a:pPr>
            <a:r>
              <a:rPr lang="en-GB" sz="1800" kern="100" dirty="0">
                <a:effectLst/>
                <a:latin typeface="Times New Roman" panose="02020603050405020304" pitchFamily="18" charset="0"/>
                <a:ea typeface="Aptos" panose="020B0004020202020204" pitchFamily="34" charset="0"/>
                <a:cs typeface="Times New Roman" panose="02020603050405020304" pitchFamily="18" charset="0"/>
              </a:rPr>
              <a:t>Assessing the viability of this system in real life.</a:t>
            </a:r>
          </a:p>
          <a:p>
            <a:pPr marL="342900" indent="-342900">
              <a:buFont typeface="+mj-lt"/>
              <a:buAutoNum type="arabicPeriod"/>
            </a:pPr>
            <a:r>
              <a:rPr lang="en-GB" dirty="0">
                <a:latin typeface="Times New Roman" panose="02020603050405020304" pitchFamily="18" charset="0"/>
                <a:cs typeface="Times New Roman" panose="02020603050405020304" pitchFamily="18" charset="0"/>
              </a:rPr>
              <a:t>Identify optimal method for hydrogen production</a:t>
            </a:r>
          </a:p>
          <a:p>
            <a:pPr marL="342900" indent="-342900">
              <a:buFont typeface="+mj-lt"/>
              <a:buAutoNum type="arabicPeriod"/>
            </a:pPr>
            <a:r>
              <a:rPr lang="en-GB" dirty="0">
                <a:latin typeface="Times New Roman" panose="02020603050405020304" pitchFamily="18" charset="0"/>
                <a:cs typeface="Times New Roman" panose="02020603050405020304" pitchFamily="18" charset="0"/>
              </a:rPr>
              <a:t>Compare AWE, PEM, and gyroid electrode methods</a:t>
            </a:r>
          </a:p>
          <a:p>
            <a:pPr marL="342900" indent="-342900">
              <a:buFont typeface="+mj-lt"/>
              <a:buAutoNum type="arabicPeriod"/>
            </a:pPr>
            <a:r>
              <a:rPr lang="en-GB" dirty="0">
                <a:latin typeface="Times New Roman" panose="02020603050405020304" pitchFamily="18" charset="0"/>
                <a:cs typeface="Times New Roman" panose="02020603050405020304" pitchFamily="18" charset="0"/>
              </a:rPr>
              <a:t>Evaluate hydrogen energy recovery via combustion and fuel cells</a:t>
            </a:r>
          </a:p>
          <a:p>
            <a:pPr marL="342900" lvl="0" indent="-342900">
              <a:lnSpc>
                <a:spcPct val="107000"/>
              </a:lnSpc>
              <a:spcAft>
                <a:spcPts val="800"/>
              </a:spcAft>
              <a:buFont typeface="Symbol" panose="05050102010706020507" pitchFamily="18" charset="2"/>
              <a:buChar char=""/>
            </a:pPr>
            <a:endParaRPr lang="en-GB" sz="1800" kern="100" dirty="0">
              <a:effectLst/>
              <a:latin typeface="Times New Roman" panose="02020603050405020304" pitchFamily="18" charset="0"/>
              <a:ea typeface="Aptos" panose="020B0004020202020204" pitchFamily="34" charset="0"/>
              <a:cs typeface="Times New Roman" panose="02020603050405020304" pitchFamily="18" charset="0"/>
            </a:endParaRPr>
          </a:p>
        </p:txBody>
      </p:sp>
      <p:graphicFrame>
        <p:nvGraphicFramePr>
          <p:cNvPr id="9" name="Content Placeholder 2">
            <a:extLst>
              <a:ext uri="{FF2B5EF4-FFF2-40B4-BE49-F238E27FC236}">
                <a16:creationId xmlns:a16="http://schemas.microsoft.com/office/drawing/2014/main" id="{2CD102F1-BF6E-F003-6377-DA1383C63008}"/>
              </a:ext>
            </a:extLst>
          </p:cNvPr>
          <p:cNvGraphicFramePr/>
          <p:nvPr>
            <p:extLst>
              <p:ext uri="{D42A27DB-BD31-4B8C-83A1-F6EECF244321}">
                <p14:modId xmlns:p14="http://schemas.microsoft.com/office/powerpoint/2010/main" val="494235620"/>
              </p:ext>
            </p:extLst>
          </p:nvPr>
        </p:nvGraphicFramePr>
        <p:xfrm>
          <a:off x="-265176" y="1664257"/>
          <a:ext cx="4304613" cy="401180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8" name="Picture 7" descr="A red rectangular sign with white text&#10;&#10;AI-generated content may be incorrect.">
            <a:extLst>
              <a:ext uri="{FF2B5EF4-FFF2-40B4-BE49-F238E27FC236}">
                <a16:creationId xmlns:a16="http://schemas.microsoft.com/office/drawing/2014/main" id="{CE2EF662-1443-A401-65DE-5871F201236F}"/>
              </a:ext>
            </a:extLst>
          </p:cNvPr>
          <p:cNvPicPr>
            <a:picLocks noChangeAspect="1"/>
          </p:cNvPicPr>
          <p:nvPr/>
        </p:nvPicPr>
        <p:blipFill>
          <a:blip r:embed="rId7"/>
          <a:srcRect t="23259" b="23753"/>
          <a:stretch>
            <a:fillRect/>
          </a:stretch>
        </p:blipFill>
        <p:spPr>
          <a:xfrm>
            <a:off x="0" y="5782963"/>
            <a:ext cx="2257425" cy="1075037"/>
          </a:xfrm>
          <a:prstGeom prst="rect">
            <a:avLst/>
          </a:prstGeom>
        </p:spPr>
      </p:pic>
      <p:sp>
        <p:nvSpPr>
          <p:cNvPr id="15" name="Flowchart: Off-page Connector 14">
            <a:extLst>
              <a:ext uri="{FF2B5EF4-FFF2-40B4-BE49-F238E27FC236}">
                <a16:creationId xmlns:a16="http://schemas.microsoft.com/office/drawing/2014/main" id="{0BE27054-3872-A4B3-0A32-547ADE6C87AB}"/>
              </a:ext>
            </a:extLst>
          </p:cNvPr>
          <p:cNvSpPr/>
          <p:nvPr/>
        </p:nvSpPr>
        <p:spPr>
          <a:xfrm>
            <a:off x="320944" y="1045293"/>
            <a:ext cx="3172064" cy="512064"/>
          </a:xfrm>
          <a:prstGeom prst="flowChartOffpageConnector">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Highlights</a:t>
            </a:r>
          </a:p>
        </p:txBody>
      </p:sp>
    </p:spTree>
    <p:extLst>
      <p:ext uri="{BB962C8B-B14F-4D97-AF65-F5344CB8AC3E}">
        <p14:creationId xmlns:p14="http://schemas.microsoft.com/office/powerpoint/2010/main" val="12395337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E5C9B8-D4BE-EB63-FE53-548ECC3C9B00}"/>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F4CF5285-06DF-A43B-C152-74DF19B1CA9F}"/>
              </a:ext>
            </a:extLst>
          </p:cNvPr>
          <p:cNvSpPr txBox="1">
            <a:spLocks/>
          </p:cNvSpPr>
          <p:nvPr/>
        </p:nvSpPr>
        <p:spPr>
          <a:xfrm>
            <a:off x="-1865562" y="-356431"/>
            <a:ext cx="10309766" cy="114300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GB" sz="3600" dirty="0">
                <a:cs typeface="Times New Roman" panose="02020603050405020304" pitchFamily="18" charset="0"/>
              </a:rPr>
              <a:t>Motivation and research questions</a:t>
            </a:r>
          </a:p>
        </p:txBody>
      </p:sp>
      <p:sp>
        <p:nvSpPr>
          <p:cNvPr id="7" name="TextBox 6">
            <a:extLst>
              <a:ext uri="{FF2B5EF4-FFF2-40B4-BE49-F238E27FC236}">
                <a16:creationId xmlns:a16="http://schemas.microsoft.com/office/drawing/2014/main" id="{7FFD0674-1E0C-B3FF-8C84-40735A7B2DA9}"/>
              </a:ext>
            </a:extLst>
          </p:cNvPr>
          <p:cNvSpPr txBox="1"/>
          <p:nvPr/>
        </p:nvSpPr>
        <p:spPr>
          <a:xfrm>
            <a:off x="231648" y="991843"/>
            <a:ext cx="11086748" cy="3692742"/>
          </a:xfrm>
          <a:prstGeom prst="rect">
            <a:avLst/>
          </a:prstGeom>
          <a:noFill/>
        </p:spPr>
        <p:txBody>
          <a:bodyPr wrap="square">
            <a:spAutoFit/>
          </a:bodyPr>
          <a:lstStyle/>
          <a:p>
            <a:r>
              <a:rPr lang="en-GB" b="1" dirty="0"/>
              <a:t>What is the novelty of your project comparing with the lit. rev?</a:t>
            </a:r>
            <a:endParaRPr lang="en-GB" dirty="0"/>
          </a:p>
          <a:p>
            <a:r>
              <a:rPr lang="en-GB" dirty="0"/>
              <a:t>To produce a highly efficient, cost-effective and clean method of continues hydrogen and energy production,  and the impact of using Gyroid electrode.</a:t>
            </a:r>
          </a:p>
          <a:p>
            <a:endParaRPr lang="en-GB" dirty="0"/>
          </a:p>
          <a:p>
            <a:r>
              <a:rPr lang="en-GB" b="1" dirty="0"/>
              <a:t>What is the motivation behind this idea?</a:t>
            </a:r>
            <a:endParaRPr lang="en-GB" dirty="0"/>
          </a:p>
          <a:p>
            <a:r>
              <a:rPr lang="en-GB" dirty="0"/>
              <a:t>The inefficiency of solar power in many applications and the limitations for hydrogen powered technologies due to the energy imbalance of its production and the environmental impact that still exists in using a clean energy source due to the methods its produced.</a:t>
            </a:r>
          </a:p>
          <a:p>
            <a:endParaRPr lang="en-GB" dirty="0"/>
          </a:p>
          <a:p>
            <a:r>
              <a:rPr lang="en-GB" b="1" dirty="0"/>
              <a:t>What challenges and gaps you may face with?</a:t>
            </a:r>
            <a:br>
              <a:rPr lang="en-GB" dirty="0"/>
            </a:br>
            <a:r>
              <a:rPr lang="en-GB" dirty="0"/>
              <a:t>Main challenges and are with the effect of gas bubble dissipation effect on electrolysis, which </a:t>
            </a:r>
            <a:r>
              <a:rPr lang="en-GB" dirty="0" err="1"/>
              <a:t>requreis</a:t>
            </a:r>
            <a:r>
              <a:rPr lang="en-GB" dirty="0"/>
              <a:t> </a:t>
            </a:r>
            <a:r>
              <a:rPr lang="en-GB" dirty="0" err="1"/>
              <a:t>futher</a:t>
            </a:r>
            <a:r>
              <a:rPr lang="en-GB" dirty="0"/>
              <a:t> research.</a:t>
            </a:r>
          </a:p>
          <a:p>
            <a:pPr marL="342900" lvl="0" indent="-342900">
              <a:lnSpc>
                <a:spcPct val="107000"/>
              </a:lnSpc>
              <a:spcAft>
                <a:spcPts val="800"/>
              </a:spcAft>
              <a:buFont typeface="Symbol" panose="05050102010706020507" pitchFamily="18" charset="2"/>
              <a:buChar char=""/>
            </a:pPr>
            <a:endParaRPr lang="en-GB" kern="100" dirty="0">
              <a:effectLst/>
              <a:latin typeface="Times New Roman" panose="02020603050405020304" pitchFamily="18" charset="0"/>
              <a:ea typeface="Aptos" panose="020B0004020202020204" pitchFamily="34" charset="0"/>
              <a:cs typeface="Times New Roman" panose="02020603050405020304" pitchFamily="18" charset="0"/>
            </a:endParaRPr>
          </a:p>
        </p:txBody>
      </p:sp>
      <p:pic>
        <p:nvPicPr>
          <p:cNvPr id="8" name="Picture 7" descr="A red rectangular sign with white text&#10;&#10;AI-generated content may be incorrect.">
            <a:extLst>
              <a:ext uri="{FF2B5EF4-FFF2-40B4-BE49-F238E27FC236}">
                <a16:creationId xmlns:a16="http://schemas.microsoft.com/office/drawing/2014/main" id="{9F544FAB-BE91-DB05-C01F-05078187A18E}"/>
              </a:ext>
            </a:extLst>
          </p:cNvPr>
          <p:cNvPicPr>
            <a:picLocks noChangeAspect="1"/>
          </p:cNvPicPr>
          <p:nvPr/>
        </p:nvPicPr>
        <p:blipFill>
          <a:blip r:embed="rId2"/>
          <a:srcRect t="23259" b="23753"/>
          <a:stretch>
            <a:fillRect/>
          </a:stretch>
        </p:blipFill>
        <p:spPr>
          <a:xfrm>
            <a:off x="0" y="5782963"/>
            <a:ext cx="2257425" cy="1075037"/>
          </a:xfrm>
          <a:prstGeom prst="rect">
            <a:avLst/>
          </a:prstGeom>
        </p:spPr>
      </p:pic>
      <p:sp>
        <p:nvSpPr>
          <p:cNvPr id="2" name="TextBox 1">
            <a:extLst>
              <a:ext uri="{FF2B5EF4-FFF2-40B4-BE49-F238E27FC236}">
                <a16:creationId xmlns:a16="http://schemas.microsoft.com/office/drawing/2014/main" id="{1E036993-86DE-1339-CE8D-E4D14EB5DEFB}"/>
              </a:ext>
            </a:extLst>
          </p:cNvPr>
          <p:cNvSpPr txBox="1"/>
          <p:nvPr/>
        </p:nvSpPr>
        <p:spPr>
          <a:xfrm>
            <a:off x="2330040" y="4850494"/>
            <a:ext cx="9546336" cy="1477328"/>
          </a:xfrm>
          <a:prstGeom prst="rect">
            <a:avLst/>
          </a:prstGeom>
          <a:noFill/>
        </p:spPr>
        <p:txBody>
          <a:bodyPr wrap="square" rtlCol="0">
            <a:spAutoFit/>
          </a:bodyPr>
          <a:lstStyle/>
          <a:p>
            <a:pPr marL="285750" indent="-285750">
              <a:buFont typeface="Arial" panose="020B0604020202020204" pitchFamily="34" charset="0"/>
              <a:buChar char="•"/>
            </a:pPr>
            <a:r>
              <a:rPr lang="en-GB" dirty="0"/>
              <a:t>What's the maximum energy efficiency of green hydrogen?</a:t>
            </a:r>
          </a:p>
          <a:p>
            <a:pPr marL="285750" indent="-285750">
              <a:buFont typeface="Arial" panose="020B0604020202020204" pitchFamily="34" charset="0"/>
              <a:buChar char="•"/>
            </a:pPr>
            <a:r>
              <a:rPr lang="en-GB" dirty="0"/>
              <a:t>How much energy is lost through electrolysis hydrogen power ?</a:t>
            </a:r>
          </a:p>
          <a:p>
            <a:pPr marL="285750" indent="-285750">
              <a:buFont typeface="Arial" panose="020B0604020202020204" pitchFamily="34" charset="0"/>
              <a:buChar char="•"/>
            </a:pPr>
            <a:r>
              <a:rPr lang="en-GB" dirty="0"/>
              <a:t>Which is the most energy efficient electrolysis and hydrogen energy method?</a:t>
            </a:r>
          </a:p>
          <a:p>
            <a:pPr marL="285750" indent="-285750">
              <a:buFont typeface="Arial" panose="020B0604020202020204" pitchFamily="34" charset="0"/>
              <a:buChar char="•"/>
            </a:pPr>
            <a:r>
              <a:rPr lang="en-GB" dirty="0"/>
              <a:t>What is the feasibility of  Solar –hydrogen power?</a:t>
            </a:r>
          </a:p>
          <a:p>
            <a:pPr marL="285750" indent="-285750">
              <a:buFont typeface="Arial" panose="020B0604020202020204" pitchFamily="34" charset="0"/>
              <a:buChar char="•"/>
            </a:pPr>
            <a:endParaRPr lang="en-GB" dirty="0"/>
          </a:p>
        </p:txBody>
      </p:sp>
      <p:sp>
        <p:nvSpPr>
          <p:cNvPr id="4" name="TextBox 3">
            <a:extLst>
              <a:ext uri="{FF2B5EF4-FFF2-40B4-BE49-F238E27FC236}">
                <a16:creationId xmlns:a16="http://schemas.microsoft.com/office/drawing/2014/main" id="{B9783E01-310F-19EF-770D-647B7B61E1D3}"/>
              </a:ext>
            </a:extLst>
          </p:cNvPr>
          <p:cNvSpPr txBox="1"/>
          <p:nvPr/>
        </p:nvSpPr>
        <p:spPr>
          <a:xfrm>
            <a:off x="231648" y="4410684"/>
            <a:ext cx="5916168" cy="369332"/>
          </a:xfrm>
          <a:prstGeom prst="rect">
            <a:avLst/>
          </a:prstGeom>
          <a:noFill/>
        </p:spPr>
        <p:txBody>
          <a:bodyPr wrap="square" rtlCol="0">
            <a:spAutoFit/>
          </a:bodyPr>
          <a:lstStyle/>
          <a:p>
            <a:r>
              <a:rPr lang="en-GB" dirty="0"/>
              <a:t>Research Questions</a:t>
            </a:r>
          </a:p>
        </p:txBody>
      </p:sp>
    </p:spTree>
    <p:extLst>
      <p:ext uri="{BB962C8B-B14F-4D97-AF65-F5344CB8AC3E}">
        <p14:creationId xmlns:p14="http://schemas.microsoft.com/office/powerpoint/2010/main" val="15748666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E0C5EC-6BAE-BF97-E785-EEFF77BA03CE}"/>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3A49CDA4-D3A1-54F7-5C80-F99EABBBB8EB}"/>
              </a:ext>
            </a:extLst>
          </p:cNvPr>
          <p:cNvSpPr txBox="1">
            <a:spLocks/>
          </p:cNvSpPr>
          <p:nvPr/>
        </p:nvSpPr>
        <p:spPr>
          <a:xfrm>
            <a:off x="-815173" y="-303027"/>
            <a:ext cx="8229600" cy="114300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GB" sz="4400" dirty="0">
                <a:latin typeface="Times New Roman" panose="02020603050405020304" pitchFamily="18" charset="0"/>
                <a:cs typeface="Times New Roman" panose="02020603050405020304" pitchFamily="18" charset="0"/>
              </a:rPr>
              <a:t>Background and Literature</a:t>
            </a:r>
          </a:p>
        </p:txBody>
      </p:sp>
      <p:sp>
        <p:nvSpPr>
          <p:cNvPr id="10" name="TextBox 9">
            <a:extLst>
              <a:ext uri="{FF2B5EF4-FFF2-40B4-BE49-F238E27FC236}">
                <a16:creationId xmlns:a16="http://schemas.microsoft.com/office/drawing/2014/main" id="{E6908E5C-BCB2-E993-E92A-136C822A233A}"/>
              </a:ext>
            </a:extLst>
          </p:cNvPr>
          <p:cNvSpPr txBox="1"/>
          <p:nvPr/>
        </p:nvSpPr>
        <p:spPr>
          <a:xfrm>
            <a:off x="573893" y="4240111"/>
            <a:ext cx="2700080" cy="410369"/>
          </a:xfrm>
          <a:prstGeom prst="rect">
            <a:avLst/>
          </a:prstGeom>
          <a:noFill/>
        </p:spPr>
        <p:txBody>
          <a:bodyPr wrap="square">
            <a:spAutoFit/>
          </a:bodyPr>
          <a:lstStyle/>
          <a:p>
            <a:pPr>
              <a:lnSpc>
                <a:spcPct val="107000"/>
              </a:lnSpc>
              <a:spcAft>
                <a:spcPts val="800"/>
              </a:spcAft>
            </a:pPr>
            <a:r>
              <a:rPr lang="en-GB" sz="2000" kern="100" dirty="0">
                <a:effectLst/>
                <a:latin typeface="Aptos" panose="020B0004020202020204" pitchFamily="34" charset="0"/>
                <a:ea typeface="Aptos" panose="020B0004020202020204" pitchFamily="34" charset="0"/>
                <a:cs typeface="Arial" panose="020B0604020202020204" pitchFamily="34" charset="0"/>
              </a:rPr>
              <a:t>Solar Energy Systems</a:t>
            </a:r>
          </a:p>
        </p:txBody>
      </p:sp>
      <p:sp>
        <p:nvSpPr>
          <p:cNvPr id="12" name="TextBox 11">
            <a:extLst>
              <a:ext uri="{FF2B5EF4-FFF2-40B4-BE49-F238E27FC236}">
                <a16:creationId xmlns:a16="http://schemas.microsoft.com/office/drawing/2014/main" id="{1F38B927-13FB-8B5B-E062-2B987B7E3AF7}"/>
              </a:ext>
            </a:extLst>
          </p:cNvPr>
          <p:cNvSpPr txBox="1"/>
          <p:nvPr/>
        </p:nvSpPr>
        <p:spPr>
          <a:xfrm>
            <a:off x="100584" y="1073512"/>
            <a:ext cx="11639659" cy="378565"/>
          </a:xfrm>
          <a:prstGeom prst="rect">
            <a:avLst/>
          </a:prstGeom>
          <a:noFill/>
        </p:spPr>
        <p:txBody>
          <a:bodyPr wrap="square">
            <a:spAutoFit/>
          </a:bodyPr>
          <a:lstStyle/>
          <a:p>
            <a:pPr>
              <a:lnSpc>
                <a:spcPct val="107000"/>
              </a:lnSpc>
              <a:spcAft>
                <a:spcPts val="800"/>
              </a:spcAft>
            </a:pPr>
            <a:r>
              <a:rPr lang="en-GB" kern="100" dirty="0">
                <a:latin typeface="Aptos" panose="020B0004020202020204" pitchFamily="34" charset="0"/>
                <a:ea typeface="Aptos" panose="020B0004020202020204" pitchFamily="34" charset="0"/>
                <a:cs typeface="Arial" panose="020B0604020202020204" pitchFamily="34" charset="0"/>
              </a:rPr>
              <a:t>Extensive research was done on the following topics, and their key data was validated and collected for the study.</a:t>
            </a:r>
            <a:endParaRPr lang="en-GB" sz="1800" kern="100" dirty="0">
              <a:effectLst/>
              <a:latin typeface="Aptos" panose="020B0004020202020204" pitchFamily="34" charset="0"/>
              <a:ea typeface="Aptos" panose="020B00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26A29B63-95BC-B480-D3ED-5563259DC848}"/>
              </a:ext>
            </a:extLst>
          </p:cNvPr>
          <p:cNvSpPr txBox="1"/>
          <p:nvPr/>
        </p:nvSpPr>
        <p:spPr>
          <a:xfrm>
            <a:off x="4426398" y="5997037"/>
            <a:ext cx="2988029" cy="378565"/>
          </a:xfrm>
          <a:prstGeom prst="rect">
            <a:avLst/>
          </a:prstGeom>
          <a:noFill/>
        </p:spPr>
        <p:txBody>
          <a:bodyPr wrap="square">
            <a:spAutoFit/>
          </a:bodyPr>
          <a:lstStyle/>
          <a:p>
            <a:pPr>
              <a:lnSpc>
                <a:spcPct val="107000"/>
              </a:lnSpc>
              <a:spcAft>
                <a:spcPts val="800"/>
              </a:spcAft>
            </a:pPr>
            <a:r>
              <a:rPr lang="en-GB" sz="1800" kern="100" dirty="0">
                <a:latin typeface="Aptos" panose="020B0004020202020204" pitchFamily="34" charset="0"/>
                <a:ea typeface="Aptos" panose="020B0004020202020204" pitchFamily="34" charset="0"/>
                <a:cs typeface="Arial" panose="020B0604020202020204" pitchFamily="34" charset="0"/>
              </a:rPr>
              <a:t>Electrolysis Technologies</a:t>
            </a:r>
          </a:p>
        </p:txBody>
      </p:sp>
      <p:sp>
        <p:nvSpPr>
          <p:cNvPr id="6" name="TextBox 5">
            <a:extLst>
              <a:ext uri="{FF2B5EF4-FFF2-40B4-BE49-F238E27FC236}">
                <a16:creationId xmlns:a16="http://schemas.microsoft.com/office/drawing/2014/main" id="{CAB863F7-2084-A702-36FB-BCA24A8B8C55}"/>
              </a:ext>
            </a:extLst>
          </p:cNvPr>
          <p:cNvSpPr txBox="1"/>
          <p:nvPr/>
        </p:nvSpPr>
        <p:spPr>
          <a:xfrm>
            <a:off x="9013472" y="4481708"/>
            <a:ext cx="6117336" cy="378565"/>
          </a:xfrm>
          <a:prstGeom prst="rect">
            <a:avLst/>
          </a:prstGeom>
          <a:noFill/>
        </p:spPr>
        <p:txBody>
          <a:bodyPr wrap="square">
            <a:spAutoFit/>
          </a:bodyPr>
          <a:lstStyle/>
          <a:p>
            <a:pPr>
              <a:lnSpc>
                <a:spcPct val="107000"/>
              </a:lnSpc>
              <a:spcAft>
                <a:spcPts val="800"/>
              </a:spcAft>
            </a:pPr>
            <a:r>
              <a:rPr lang="en-GB" sz="1800" kern="100" dirty="0">
                <a:latin typeface="Aptos" panose="020B0004020202020204" pitchFamily="34" charset="0"/>
                <a:ea typeface="Aptos" panose="020B0004020202020204" pitchFamily="34" charset="0"/>
                <a:cs typeface="Arial" panose="020B0604020202020204" pitchFamily="34" charset="0"/>
              </a:rPr>
              <a:t>Hydrogen Utilization</a:t>
            </a:r>
          </a:p>
        </p:txBody>
      </p:sp>
      <p:pic>
        <p:nvPicPr>
          <p:cNvPr id="7" name="Picture 6" descr="A red rectangular sign with white text&#10;&#10;AI-generated content may be incorrect.">
            <a:extLst>
              <a:ext uri="{FF2B5EF4-FFF2-40B4-BE49-F238E27FC236}">
                <a16:creationId xmlns:a16="http://schemas.microsoft.com/office/drawing/2014/main" id="{BF75C497-25A8-BF7E-A5AE-652E81791215}"/>
              </a:ext>
            </a:extLst>
          </p:cNvPr>
          <p:cNvPicPr>
            <a:picLocks noChangeAspect="1"/>
          </p:cNvPicPr>
          <p:nvPr/>
        </p:nvPicPr>
        <p:blipFill>
          <a:blip r:embed="rId2"/>
          <a:srcRect t="23259" b="23753"/>
          <a:stretch>
            <a:fillRect/>
          </a:stretch>
        </p:blipFill>
        <p:spPr>
          <a:xfrm>
            <a:off x="0" y="5782963"/>
            <a:ext cx="2257425" cy="1075037"/>
          </a:xfrm>
          <a:prstGeom prst="rect">
            <a:avLst/>
          </a:prstGeom>
        </p:spPr>
      </p:pic>
      <p:pic>
        <p:nvPicPr>
          <p:cNvPr id="9" name="Picture 8" descr="A solar panel on a stand&#10;&#10;AI-generated content may be incorrect.">
            <a:extLst>
              <a:ext uri="{FF2B5EF4-FFF2-40B4-BE49-F238E27FC236}">
                <a16:creationId xmlns:a16="http://schemas.microsoft.com/office/drawing/2014/main" id="{F8547980-0509-0209-A74B-C3E458A6D4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584" y="1542889"/>
            <a:ext cx="4160910" cy="2496547"/>
          </a:xfrm>
          <a:prstGeom prst="rect">
            <a:avLst/>
          </a:prstGeom>
        </p:spPr>
      </p:pic>
      <p:pic>
        <p:nvPicPr>
          <p:cNvPr id="13" name="Picture 12" descr="Diagram of a diagram of a gas electrode&#10;&#10;AI-generated content may be incorrect.">
            <a:extLst>
              <a:ext uri="{FF2B5EF4-FFF2-40B4-BE49-F238E27FC236}">
                <a16:creationId xmlns:a16="http://schemas.microsoft.com/office/drawing/2014/main" id="{A43A6819-38C3-DF56-5814-7921F0DAD1B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67223" y="4000909"/>
            <a:ext cx="4117082" cy="1957601"/>
          </a:xfrm>
          <a:prstGeom prst="rect">
            <a:avLst/>
          </a:prstGeom>
        </p:spPr>
      </p:pic>
      <p:pic>
        <p:nvPicPr>
          <p:cNvPr id="17" name="Picture 16" descr="A diagram of a power plant&#10;&#10;AI-generated content may be incorrect.">
            <a:extLst>
              <a:ext uri="{FF2B5EF4-FFF2-40B4-BE49-F238E27FC236}">
                <a16:creationId xmlns:a16="http://schemas.microsoft.com/office/drawing/2014/main" id="{A9554F2F-8546-5EFF-561C-3492A6527BA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084305" y="1989321"/>
            <a:ext cx="4117082" cy="2312574"/>
          </a:xfrm>
          <a:prstGeom prst="rect">
            <a:avLst/>
          </a:prstGeom>
        </p:spPr>
      </p:pic>
    </p:spTree>
    <p:extLst>
      <p:ext uri="{BB962C8B-B14F-4D97-AF65-F5344CB8AC3E}">
        <p14:creationId xmlns:p14="http://schemas.microsoft.com/office/powerpoint/2010/main" val="12001293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CEB29B-1708-1D61-8A76-D0891A5972C7}"/>
            </a:ext>
          </a:extLst>
        </p:cNvPr>
        <p:cNvGrpSpPr/>
        <p:nvPr/>
      </p:nvGrpSpPr>
      <p:grpSpPr>
        <a:xfrm>
          <a:off x="0" y="0"/>
          <a:ext cx="0" cy="0"/>
          <a:chOff x="0" y="0"/>
          <a:chExt cx="0" cy="0"/>
        </a:xfrm>
      </p:grpSpPr>
      <p:sp>
        <p:nvSpPr>
          <p:cNvPr id="31" name="TextBox 30">
            <a:extLst>
              <a:ext uri="{FF2B5EF4-FFF2-40B4-BE49-F238E27FC236}">
                <a16:creationId xmlns:a16="http://schemas.microsoft.com/office/drawing/2014/main" id="{B4D99AB7-8EA2-93B4-EF47-1267122755AF}"/>
              </a:ext>
            </a:extLst>
          </p:cNvPr>
          <p:cNvSpPr txBox="1"/>
          <p:nvPr/>
        </p:nvSpPr>
        <p:spPr>
          <a:xfrm>
            <a:off x="1225233" y="104417"/>
            <a:ext cx="5801917" cy="915969"/>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4000" kern="1200" dirty="0">
                <a:solidFill>
                  <a:schemeClr val="tx1"/>
                </a:solidFill>
                <a:latin typeface="+mj-lt"/>
                <a:ea typeface="+mj-ea"/>
                <a:cs typeface="+mj-cs"/>
              </a:rPr>
              <a:t>Solar Energy Systems</a:t>
            </a:r>
          </a:p>
        </p:txBody>
      </p:sp>
      <p:pic>
        <p:nvPicPr>
          <p:cNvPr id="32" name="Graphic 31" descr="Sun">
            <a:extLst>
              <a:ext uri="{FF2B5EF4-FFF2-40B4-BE49-F238E27FC236}">
                <a16:creationId xmlns:a16="http://schemas.microsoft.com/office/drawing/2014/main" id="{84BD5686-220A-3828-11FE-F52B7B9FF48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3854" y="217071"/>
            <a:ext cx="957706" cy="957706"/>
          </a:xfrm>
          <a:prstGeom prst="rect">
            <a:avLst/>
          </a:prstGeom>
        </p:spPr>
      </p:pic>
      <p:sp>
        <p:nvSpPr>
          <p:cNvPr id="33" name="TextBox 32">
            <a:extLst>
              <a:ext uri="{FF2B5EF4-FFF2-40B4-BE49-F238E27FC236}">
                <a16:creationId xmlns:a16="http://schemas.microsoft.com/office/drawing/2014/main" id="{406C6AFA-7D75-5653-894B-A11F78346E6F}"/>
              </a:ext>
            </a:extLst>
          </p:cNvPr>
          <p:cNvSpPr txBox="1"/>
          <p:nvPr/>
        </p:nvSpPr>
        <p:spPr>
          <a:xfrm>
            <a:off x="93854" y="1216444"/>
            <a:ext cx="12188952" cy="369332"/>
          </a:xfrm>
          <a:prstGeom prst="rect">
            <a:avLst/>
          </a:prstGeom>
          <a:noFill/>
        </p:spPr>
        <p:txBody>
          <a:bodyPr wrap="square" rtlCol="0">
            <a:spAutoFit/>
          </a:bodyPr>
          <a:lstStyle/>
          <a:p>
            <a:r>
              <a:rPr lang="en-GB" dirty="0"/>
              <a:t>Here a comparison between various solar energy source types  and variations of Solar energy electrolysis were compared </a:t>
            </a:r>
          </a:p>
        </p:txBody>
      </p:sp>
      <p:sp>
        <p:nvSpPr>
          <p:cNvPr id="34" name="TextBox 33">
            <a:extLst>
              <a:ext uri="{FF2B5EF4-FFF2-40B4-BE49-F238E27FC236}">
                <a16:creationId xmlns:a16="http://schemas.microsoft.com/office/drawing/2014/main" id="{D0FDF165-2EB2-343A-6816-E9364F3246B1}"/>
              </a:ext>
            </a:extLst>
          </p:cNvPr>
          <p:cNvSpPr txBox="1"/>
          <p:nvPr/>
        </p:nvSpPr>
        <p:spPr>
          <a:xfrm>
            <a:off x="93854" y="1836722"/>
            <a:ext cx="6758559" cy="1740413"/>
          </a:xfrm>
          <a:prstGeom prst="rect">
            <a:avLst/>
          </a:prstGeom>
          <a:noFill/>
        </p:spPr>
        <p:txBody>
          <a:bodyPr wrap="square">
            <a:spAutoFit/>
          </a:bodyPr>
          <a:lstStyle/>
          <a:p>
            <a:pPr>
              <a:lnSpc>
                <a:spcPct val="107000"/>
              </a:lnSpc>
              <a:spcAft>
                <a:spcPts val="800"/>
              </a:spcAft>
              <a:buNone/>
            </a:pPr>
            <a:r>
              <a:rPr lang="en-GB" sz="1100" kern="100" dirty="0" err="1">
                <a:effectLst/>
                <a:latin typeface="Aptos" panose="020B0004020202020204" pitchFamily="34" charset="0"/>
                <a:ea typeface="Aptos" panose="020B0004020202020204" pitchFamily="34" charset="0"/>
                <a:cs typeface="Arial" panose="020B0604020202020204" pitchFamily="34" charset="0"/>
              </a:rPr>
              <a:t>Akpinar</a:t>
            </a:r>
            <a:r>
              <a:rPr lang="en-GB" sz="1100" kern="100" dirty="0">
                <a:effectLst/>
                <a:latin typeface="Aptos" panose="020B0004020202020204" pitchFamily="34" charset="0"/>
                <a:ea typeface="Aptos" panose="020B0004020202020204" pitchFamily="34" charset="0"/>
                <a:cs typeface="Arial" panose="020B0604020202020204" pitchFamily="34" charset="0"/>
              </a:rPr>
              <a:t>, E., Gül </a:t>
            </a:r>
            <a:r>
              <a:rPr lang="en-GB" sz="1100" kern="100" dirty="0" err="1">
                <a:effectLst/>
                <a:latin typeface="Aptos" panose="020B0004020202020204" pitchFamily="34" charset="0"/>
                <a:ea typeface="Aptos" panose="020B0004020202020204" pitchFamily="34" charset="0"/>
                <a:cs typeface="Arial" panose="020B0604020202020204" pitchFamily="34" charset="0"/>
              </a:rPr>
              <a:t>Katircioglu</a:t>
            </a:r>
            <a:r>
              <a:rPr lang="en-GB" sz="1100" kern="100" dirty="0">
                <a:effectLst/>
                <a:latin typeface="Aptos" panose="020B0004020202020204" pitchFamily="34" charset="0"/>
                <a:ea typeface="Aptos" panose="020B0004020202020204" pitchFamily="34" charset="0"/>
                <a:cs typeface="Arial" panose="020B0604020202020204" pitchFamily="34" charset="0"/>
              </a:rPr>
              <a:t>, G. and Das, M. (2025). Effects of solar tracking on different types of solar panels; experimental study for thermal and photovoltaic types. </a:t>
            </a:r>
            <a:r>
              <a:rPr lang="en-GB" sz="1100" i="1" kern="100" dirty="0">
                <a:effectLst/>
                <a:latin typeface="Aptos" panose="020B0004020202020204" pitchFamily="34" charset="0"/>
                <a:ea typeface="Aptos" panose="020B0004020202020204" pitchFamily="34" charset="0"/>
                <a:cs typeface="Arial" panose="020B0604020202020204" pitchFamily="34" charset="0"/>
              </a:rPr>
              <a:t>International Journal of Hydrogen Energy</a:t>
            </a:r>
            <a:r>
              <a:rPr lang="en-GB" sz="1100" kern="100" dirty="0">
                <a:effectLst/>
                <a:latin typeface="Aptos" panose="020B0004020202020204" pitchFamily="34" charset="0"/>
                <a:ea typeface="Aptos" panose="020B0004020202020204" pitchFamily="34" charset="0"/>
                <a:cs typeface="Arial" panose="020B0604020202020204" pitchFamily="34" charset="0"/>
              </a:rPr>
              <a:t>.</a:t>
            </a:r>
          </a:p>
          <a:p>
            <a:pPr>
              <a:lnSpc>
                <a:spcPct val="107000"/>
              </a:lnSpc>
              <a:spcAft>
                <a:spcPts val="800"/>
              </a:spcAft>
              <a:buNone/>
            </a:pPr>
            <a:r>
              <a:rPr lang="en-GB" sz="1100" kern="100" dirty="0">
                <a:effectLst/>
                <a:latin typeface="Aptos" panose="020B0004020202020204" pitchFamily="34" charset="0"/>
                <a:ea typeface="Aptos" panose="020B0004020202020204" pitchFamily="34" charset="0"/>
                <a:cs typeface="Arial" panose="020B0604020202020204" pitchFamily="34" charset="0"/>
              </a:rPr>
              <a:t>Key points</a:t>
            </a:r>
          </a:p>
          <a:p>
            <a:pPr marL="342900" lvl="0" indent="-342900">
              <a:lnSpc>
                <a:spcPct val="107000"/>
              </a:lnSpc>
              <a:buFont typeface="Symbol" panose="05050102010706020507" pitchFamily="18" charset="2"/>
              <a:buChar char=""/>
            </a:pPr>
            <a:r>
              <a:rPr lang="en-GB" sz="1100" kern="100" dirty="0">
                <a:effectLst/>
                <a:latin typeface="Aptos" panose="020B0004020202020204" pitchFamily="34" charset="0"/>
                <a:ea typeface="Aptos" panose="020B0004020202020204" pitchFamily="34" charset="0"/>
                <a:cs typeface="Arial" panose="020B0604020202020204" pitchFamily="34" charset="0"/>
              </a:rPr>
              <a:t>Effects of solar tracking system (STS) on thermal and photovoltaic (PV) solar panels.</a:t>
            </a:r>
          </a:p>
          <a:p>
            <a:pPr marL="342900" lvl="0" indent="-342900">
              <a:lnSpc>
                <a:spcPct val="107000"/>
              </a:lnSpc>
              <a:buFont typeface="Symbol" panose="05050102010706020507" pitchFamily="18" charset="2"/>
              <a:buChar char=""/>
            </a:pPr>
            <a:r>
              <a:rPr lang="en-GB" sz="1100" kern="100" dirty="0">
                <a:effectLst/>
                <a:latin typeface="Aptos" panose="020B0004020202020204" pitchFamily="34" charset="0"/>
                <a:ea typeface="Aptos" panose="020B0004020202020204" pitchFamily="34" charset="0"/>
                <a:cs typeface="Arial" panose="020B0604020202020204" pitchFamily="34" charset="0"/>
              </a:rPr>
              <a:t>Investigation of electrical power generation depending on PV panel surface temperature.</a:t>
            </a:r>
          </a:p>
          <a:p>
            <a:pPr marL="342900" lvl="0" indent="-342900">
              <a:lnSpc>
                <a:spcPct val="107000"/>
              </a:lnSpc>
              <a:buFont typeface="Symbol" panose="05050102010706020507" pitchFamily="18" charset="2"/>
              <a:buChar char=""/>
            </a:pPr>
            <a:r>
              <a:rPr lang="en-GB" sz="1100" kern="100" dirty="0">
                <a:effectLst/>
                <a:latin typeface="Aptos" panose="020B0004020202020204" pitchFamily="34" charset="0"/>
                <a:ea typeface="Aptos" panose="020B0004020202020204" pitchFamily="34" charset="0"/>
                <a:cs typeface="Arial" panose="020B0604020202020204" pitchFamily="34" charset="0"/>
              </a:rPr>
              <a:t>Solar thermal panel output temperature increased by 25.6% on average with STS.</a:t>
            </a:r>
          </a:p>
          <a:p>
            <a:pPr marL="342900" lvl="0" indent="-342900">
              <a:lnSpc>
                <a:spcPct val="107000"/>
              </a:lnSpc>
              <a:buFont typeface="Symbol" panose="05050102010706020507" pitchFamily="18" charset="2"/>
              <a:buChar char=""/>
            </a:pPr>
            <a:r>
              <a:rPr lang="en-GB" sz="1100" kern="100" dirty="0">
                <a:effectLst/>
                <a:latin typeface="Aptos" panose="020B0004020202020204" pitchFamily="34" charset="0"/>
                <a:ea typeface="Aptos" panose="020B0004020202020204" pitchFamily="34" charset="0"/>
                <a:cs typeface="Arial" panose="020B0604020202020204" pitchFamily="34" charset="0"/>
              </a:rPr>
              <a:t>An average increase of 22.7% in electrical energy generation values with STS.</a:t>
            </a:r>
          </a:p>
          <a:p>
            <a:pPr marL="342900" lvl="0" indent="-342900">
              <a:lnSpc>
                <a:spcPct val="107000"/>
              </a:lnSpc>
              <a:spcAft>
                <a:spcPts val="800"/>
              </a:spcAft>
              <a:buFont typeface="Symbol" panose="05050102010706020507" pitchFamily="18" charset="2"/>
              <a:buChar char=""/>
            </a:pPr>
            <a:r>
              <a:rPr lang="en-GB" sz="1100" kern="100" dirty="0">
                <a:effectLst/>
                <a:latin typeface="Aptos" panose="020B0004020202020204" pitchFamily="34" charset="0"/>
                <a:ea typeface="Aptos" panose="020B0004020202020204" pitchFamily="34" charset="0"/>
                <a:cs typeface="Arial" panose="020B0604020202020204" pitchFamily="34" charset="0"/>
              </a:rPr>
              <a:t>Negative effects of STS, such as photovoltaic panel surface temperature increase.</a:t>
            </a:r>
          </a:p>
        </p:txBody>
      </p:sp>
      <p:sp>
        <p:nvSpPr>
          <p:cNvPr id="35" name="TextBox 34">
            <a:extLst>
              <a:ext uri="{FF2B5EF4-FFF2-40B4-BE49-F238E27FC236}">
                <a16:creationId xmlns:a16="http://schemas.microsoft.com/office/drawing/2014/main" id="{98391BC8-8FBB-FFF1-2058-F83505910267}"/>
              </a:ext>
            </a:extLst>
          </p:cNvPr>
          <p:cNvSpPr txBox="1"/>
          <p:nvPr/>
        </p:nvSpPr>
        <p:spPr>
          <a:xfrm>
            <a:off x="93854" y="3638315"/>
            <a:ext cx="6758559" cy="2181238"/>
          </a:xfrm>
          <a:prstGeom prst="rect">
            <a:avLst/>
          </a:prstGeom>
          <a:noFill/>
        </p:spPr>
        <p:txBody>
          <a:bodyPr wrap="square">
            <a:spAutoFit/>
          </a:bodyPr>
          <a:lstStyle/>
          <a:p>
            <a:pPr>
              <a:lnSpc>
                <a:spcPct val="107000"/>
              </a:lnSpc>
              <a:spcAft>
                <a:spcPts val="800"/>
              </a:spcAft>
              <a:buNone/>
            </a:pPr>
            <a:r>
              <a:rPr lang="en-GB" sz="1100" kern="100" dirty="0">
                <a:effectLst/>
                <a:latin typeface="Aptos" panose="020B0004020202020204" pitchFamily="34" charset="0"/>
                <a:ea typeface="Aptos" panose="020B0004020202020204" pitchFamily="34" charset="0"/>
                <a:cs typeface="Arial" panose="020B0604020202020204" pitchFamily="34" charset="0"/>
              </a:rPr>
              <a:t>Miao, L., Zhang, G., Shan, S., Xu, Z., Zhou, Z., Wang, Z. and Cen, K. (2025). Analysis of a three-band spectrum splitting photovoltaic-photothermal driven SOEC hydrogen production system. </a:t>
            </a:r>
            <a:r>
              <a:rPr lang="en-GB" sz="1100" i="1" kern="100" dirty="0">
                <a:effectLst/>
                <a:latin typeface="Aptos" panose="020B0004020202020204" pitchFamily="34" charset="0"/>
                <a:ea typeface="Aptos" panose="020B0004020202020204" pitchFamily="34" charset="0"/>
                <a:cs typeface="Arial" panose="020B0604020202020204" pitchFamily="34" charset="0"/>
              </a:rPr>
              <a:t>Solar Energy</a:t>
            </a:r>
            <a:r>
              <a:rPr lang="en-GB" sz="1100" kern="100" dirty="0">
                <a:effectLst/>
                <a:latin typeface="Aptos" panose="020B0004020202020204" pitchFamily="34" charset="0"/>
                <a:ea typeface="Aptos" panose="020B0004020202020204" pitchFamily="34" charset="0"/>
                <a:cs typeface="Arial" panose="020B0604020202020204" pitchFamily="34" charset="0"/>
              </a:rPr>
              <a:t>, [online] 297, p.113611 </a:t>
            </a:r>
          </a:p>
          <a:p>
            <a:pPr marL="342900" lvl="0" indent="-342900">
              <a:lnSpc>
                <a:spcPct val="107000"/>
              </a:lnSpc>
              <a:buFont typeface="Symbol" panose="05050102010706020507" pitchFamily="18" charset="2"/>
              <a:buChar char=""/>
            </a:pPr>
            <a:r>
              <a:rPr lang="en-GB" sz="1100" kern="100" dirty="0">
                <a:effectLst/>
                <a:latin typeface="Aptos" panose="020B0004020202020204" pitchFamily="34" charset="0"/>
                <a:ea typeface="Aptos" panose="020B0004020202020204" pitchFamily="34" charset="0"/>
                <a:cs typeface="Arial" panose="020B0604020202020204" pitchFamily="34" charset="0"/>
              </a:rPr>
              <a:t>Key points</a:t>
            </a:r>
          </a:p>
          <a:p>
            <a:pPr marL="342900" lvl="0" indent="-342900">
              <a:lnSpc>
                <a:spcPct val="107000"/>
              </a:lnSpc>
              <a:buFont typeface="Symbol" panose="05050102010706020507" pitchFamily="18" charset="2"/>
              <a:buChar char=""/>
            </a:pPr>
            <a:r>
              <a:rPr lang="en-GB" sz="1100" kern="100" dirty="0">
                <a:effectLst/>
                <a:latin typeface="Aptos" panose="020B0004020202020204" pitchFamily="34" charset="0"/>
                <a:ea typeface="Aptos" panose="020B0004020202020204" pitchFamily="34" charset="0"/>
                <a:cs typeface="Arial" panose="020B0604020202020204" pitchFamily="34" charset="0"/>
              </a:rPr>
              <a:t>Propose a solar three-band spectrum splitting photovoltaic-photothermal driven SOEC hydrogen production system.</a:t>
            </a:r>
          </a:p>
          <a:p>
            <a:pPr marL="342900" lvl="0" indent="-342900">
              <a:lnSpc>
                <a:spcPct val="107000"/>
              </a:lnSpc>
              <a:buFont typeface="Symbol" panose="05050102010706020507" pitchFamily="18" charset="2"/>
              <a:buChar char=""/>
            </a:pPr>
            <a:r>
              <a:rPr lang="en-GB" sz="1100" kern="100" dirty="0">
                <a:effectLst/>
                <a:latin typeface="Aptos" panose="020B0004020202020204" pitchFamily="34" charset="0"/>
                <a:ea typeface="Aptos" panose="020B0004020202020204" pitchFamily="34" charset="0"/>
                <a:cs typeface="Arial" panose="020B0604020202020204" pitchFamily="34" charset="0"/>
              </a:rPr>
              <a:t>Establish a system thermodynamic model to </a:t>
            </a:r>
            <a:r>
              <a:rPr lang="en-GB" sz="1100" kern="100" dirty="0" err="1">
                <a:effectLst/>
                <a:latin typeface="Aptos" panose="020B0004020202020204" pitchFamily="34" charset="0"/>
                <a:ea typeface="Aptos" panose="020B0004020202020204" pitchFamily="34" charset="0"/>
                <a:cs typeface="Arial" panose="020B0604020202020204" pitchFamily="34" charset="0"/>
              </a:rPr>
              <a:t>analyze</a:t>
            </a:r>
            <a:r>
              <a:rPr lang="en-GB" sz="1100" kern="100" dirty="0">
                <a:effectLst/>
                <a:latin typeface="Aptos" panose="020B0004020202020204" pitchFamily="34" charset="0"/>
                <a:ea typeface="Aptos" panose="020B0004020202020204" pitchFamily="34" charset="0"/>
                <a:cs typeface="Arial" panose="020B0604020202020204" pitchFamily="34" charset="0"/>
              </a:rPr>
              <a:t> parametrical effect.</a:t>
            </a:r>
          </a:p>
          <a:p>
            <a:pPr marL="342900" lvl="0" indent="-342900">
              <a:lnSpc>
                <a:spcPct val="107000"/>
              </a:lnSpc>
              <a:buFont typeface="Symbol" panose="05050102010706020507" pitchFamily="18" charset="2"/>
              <a:buChar char=""/>
            </a:pPr>
            <a:r>
              <a:rPr lang="en-GB" sz="1100" kern="100" dirty="0">
                <a:effectLst/>
                <a:latin typeface="Aptos" panose="020B0004020202020204" pitchFamily="34" charset="0"/>
                <a:ea typeface="Aptos" panose="020B0004020202020204" pitchFamily="34" charset="0"/>
                <a:cs typeface="Arial" panose="020B0604020202020204" pitchFamily="34" charset="0"/>
              </a:rPr>
              <a:t>Optimize the matching condition between spectrum splitting and SOEC.</a:t>
            </a:r>
          </a:p>
          <a:p>
            <a:pPr marL="342900" lvl="0" indent="-342900">
              <a:lnSpc>
                <a:spcPct val="107000"/>
              </a:lnSpc>
              <a:buFont typeface="Symbol" panose="05050102010706020507" pitchFamily="18" charset="2"/>
              <a:buChar char=""/>
            </a:pPr>
            <a:r>
              <a:rPr lang="en-GB" sz="1100" kern="100" dirty="0">
                <a:effectLst/>
                <a:latin typeface="Aptos" panose="020B0004020202020204" pitchFamily="34" charset="0"/>
                <a:ea typeface="Aptos" panose="020B0004020202020204" pitchFamily="34" charset="0"/>
                <a:cs typeface="Arial" panose="020B0604020202020204" pitchFamily="34" charset="0"/>
              </a:rPr>
              <a:t>Couple S-CO</a:t>
            </a:r>
            <a:r>
              <a:rPr lang="en-GB" sz="1100" kern="100" baseline="-25000" dirty="0">
                <a:effectLst/>
                <a:latin typeface="Aptos" panose="020B0004020202020204" pitchFamily="34" charset="0"/>
                <a:ea typeface="Aptos" panose="020B0004020202020204" pitchFamily="34" charset="0"/>
                <a:cs typeface="Arial" panose="020B0604020202020204" pitchFamily="34" charset="0"/>
              </a:rPr>
              <a:t>2</a:t>
            </a:r>
            <a:r>
              <a:rPr lang="en-GB" sz="1100" kern="100" dirty="0">
                <a:effectLst/>
                <a:latin typeface="Aptos" panose="020B0004020202020204" pitchFamily="34" charset="0"/>
                <a:ea typeface="Aptos" panose="020B0004020202020204" pitchFamily="34" charset="0"/>
                <a:cs typeface="Arial" panose="020B0604020202020204" pitchFamily="34" charset="0"/>
              </a:rPr>
              <a:t> Brayton cycle to adapt to SOEC low-temperature conditions with stable splitting wavelengths.</a:t>
            </a:r>
          </a:p>
          <a:p>
            <a:pPr marL="342900" lvl="0" indent="-342900">
              <a:lnSpc>
                <a:spcPct val="107000"/>
              </a:lnSpc>
              <a:spcAft>
                <a:spcPts val="800"/>
              </a:spcAft>
              <a:buFont typeface="Symbol" panose="05050102010706020507" pitchFamily="18" charset="2"/>
              <a:buChar char=""/>
            </a:pPr>
            <a:r>
              <a:rPr lang="en-GB" sz="1100" kern="100" dirty="0">
                <a:effectLst/>
                <a:latin typeface="Aptos" panose="020B0004020202020204" pitchFamily="34" charset="0"/>
                <a:ea typeface="Aptos" panose="020B0004020202020204" pitchFamily="34" charset="0"/>
                <a:cs typeface="Arial" panose="020B0604020202020204" pitchFamily="34" charset="0"/>
              </a:rPr>
              <a:t>The system optimal efficiency can reach 47.38%, better than the non-spectrum-splitting system.</a:t>
            </a:r>
          </a:p>
        </p:txBody>
      </p:sp>
      <p:sp>
        <p:nvSpPr>
          <p:cNvPr id="36" name="TextBox 35">
            <a:extLst>
              <a:ext uri="{FF2B5EF4-FFF2-40B4-BE49-F238E27FC236}">
                <a16:creationId xmlns:a16="http://schemas.microsoft.com/office/drawing/2014/main" id="{73CE48F1-15B1-65A6-3C4F-6F736B6E8CFE}"/>
              </a:ext>
            </a:extLst>
          </p:cNvPr>
          <p:cNvSpPr txBox="1"/>
          <p:nvPr/>
        </p:nvSpPr>
        <p:spPr>
          <a:xfrm>
            <a:off x="6744084" y="2599868"/>
            <a:ext cx="5260880" cy="2308324"/>
          </a:xfrm>
          <a:prstGeom prst="rect">
            <a:avLst/>
          </a:prstGeom>
          <a:noFill/>
        </p:spPr>
        <p:txBody>
          <a:bodyPr wrap="square">
            <a:spAutoFit/>
          </a:bodyPr>
          <a:lstStyle/>
          <a:p>
            <a:endParaRPr lang="en-US" i="1"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“Solar energy is most abundant form of renewable energy available all over the world, but it tends to vary and dependent on factors such as solar irradiance (</a:t>
            </a:r>
            <a:r>
              <a:rPr lang="en-US" dirty="0" err="1">
                <a:latin typeface="Times New Roman" panose="02020603050405020304" pitchFamily="18" charset="0"/>
                <a:cs typeface="Times New Roman" panose="02020603050405020304" pitchFamily="18" charset="0"/>
              </a:rPr>
              <a:t>Akpinar</a:t>
            </a:r>
            <a:r>
              <a:rPr lang="en-US" dirty="0">
                <a:latin typeface="Times New Roman" panose="02020603050405020304" pitchFamily="18" charset="0"/>
                <a:cs typeface="Times New Roman" panose="02020603050405020304" pitchFamily="18" charset="0"/>
              </a:rPr>
              <a:t> et al., 2025) shows significant improvement in power output by introducing solar tracking technology which has increased by 22.7% in electricity and 25.6% in heat”. </a:t>
            </a:r>
            <a:endParaRPr lang="en-GB" dirty="0">
              <a:latin typeface="Times New Roman" panose="02020603050405020304" pitchFamily="18" charset="0"/>
              <a:cs typeface="Times New Roman" panose="02020603050405020304" pitchFamily="18" charset="0"/>
            </a:endParaRPr>
          </a:p>
        </p:txBody>
      </p:sp>
      <p:graphicFrame>
        <p:nvGraphicFramePr>
          <p:cNvPr id="38" name="Content Placeholder 2">
            <a:extLst>
              <a:ext uri="{FF2B5EF4-FFF2-40B4-BE49-F238E27FC236}">
                <a16:creationId xmlns:a16="http://schemas.microsoft.com/office/drawing/2014/main" id="{D22FA5B8-9017-AEAC-BD1F-FD1F71A6A1EC}"/>
              </a:ext>
            </a:extLst>
          </p:cNvPr>
          <p:cNvGraphicFramePr/>
          <p:nvPr>
            <p:extLst>
              <p:ext uri="{D42A27DB-BD31-4B8C-83A1-F6EECF244321}">
                <p14:modId xmlns:p14="http://schemas.microsoft.com/office/powerpoint/2010/main" val="1532653582"/>
              </p:ext>
            </p:extLst>
          </p:nvPr>
        </p:nvGraphicFramePr>
        <p:xfrm>
          <a:off x="2507063" y="5080775"/>
          <a:ext cx="8229600" cy="241914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39" name="Picture 38" descr="A red rectangular sign with white text&#10;&#10;AI-generated content may be incorrect.">
            <a:extLst>
              <a:ext uri="{FF2B5EF4-FFF2-40B4-BE49-F238E27FC236}">
                <a16:creationId xmlns:a16="http://schemas.microsoft.com/office/drawing/2014/main" id="{67145ADD-7ADA-5115-CF50-E399BE39C0EE}"/>
              </a:ext>
            </a:extLst>
          </p:cNvPr>
          <p:cNvPicPr>
            <a:picLocks noChangeAspect="1"/>
          </p:cNvPicPr>
          <p:nvPr/>
        </p:nvPicPr>
        <p:blipFill>
          <a:blip r:embed="rId9"/>
          <a:srcRect t="23259" b="23753"/>
          <a:stretch>
            <a:fillRect/>
          </a:stretch>
        </p:blipFill>
        <p:spPr>
          <a:xfrm>
            <a:off x="0" y="5782963"/>
            <a:ext cx="2257425" cy="1075037"/>
          </a:xfrm>
          <a:prstGeom prst="rect">
            <a:avLst/>
          </a:prstGeom>
        </p:spPr>
      </p:pic>
    </p:spTree>
    <p:extLst>
      <p:ext uri="{BB962C8B-B14F-4D97-AF65-F5344CB8AC3E}">
        <p14:creationId xmlns:p14="http://schemas.microsoft.com/office/powerpoint/2010/main" val="12180224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C0020C2-6BCB-6FD9-8EFE-6D5345BBEBCB}"/>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C4028FD-8BAA-4A19-BFDE-594D991B75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F540DA1A-21ED-B937-2F3D-BA9ECA3B5EC6}"/>
              </a:ext>
            </a:extLst>
          </p:cNvPr>
          <p:cNvSpPr txBox="1"/>
          <p:nvPr/>
        </p:nvSpPr>
        <p:spPr>
          <a:xfrm>
            <a:off x="1192720" y="0"/>
            <a:ext cx="10515600" cy="1133693"/>
          </a:xfrm>
          <a:prstGeom prst="rect">
            <a:avLst/>
          </a:prstGeom>
        </p:spPr>
        <p:txBody>
          <a:bodyPr vert="horz" lIns="91440" tIns="45720" rIns="91440" bIns="45720" rtlCol="0" anchor="ctr">
            <a:normAutofit/>
          </a:bodyPr>
          <a:lstStyle/>
          <a:p>
            <a:pPr>
              <a:lnSpc>
                <a:spcPct val="90000"/>
              </a:lnSpc>
              <a:spcBef>
                <a:spcPct val="0"/>
              </a:spcBef>
              <a:spcAft>
                <a:spcPts val="800"/>
              </a:spcAft>
            </a:pPr>
            <a:r>
              <a:rPr lang="en-US" sz="4000" kern="1200" dirty="0">
                <a:solidFill>
                  <a:schemeClr val="tx1"/>
                </a:solidFill>
                <a:latin typeface="+mj-lt"/>
                <a:ea typeface="+mj-ea"/>
                <a:cs typeface="+mj-cs"/>
              </a:rPr>
              <a:t>Electrolysis Technologies</a:t>
            </a:r>
          </a:p>
        </p:txBody>
      </p:sp>
      <p:pic>
        <p:nvPicPr>
          <p:cNvPr id="2" name="Picture 1" descr="A red rectangular sign with white text&#10;&#10;AI-generated content may be incorrect.">
            <a:extLst>
              <a:ext uri="{FF2B5EF4-FFF2-40B4-BE49-F238E27FC236}">
                <a16:creationId xmlns:a16="http://schemas.microsoft.com/office/drawing/2014/main" id="{C722ACCD-C144-E80B-6513-CF9761922F5C}"/>
              </a:ext>
            </a:extLst>
          </p:cNvPr>
          <p:cNvPicPr>
            <a:picLocks noChangeAspect="1"/>
          </p:cNvPicPr>
          <p:nvPr/>
        </p:nvPicPr>
        <p:blipFill>
          <a:blip r:embed="rId2"/>
          <a:srcRect t="23259" b="23753"/>
          <a:stretch>
            <a:fillRect/>
          </a:stretch>
        </p:blipFill>
        <p:spPr>
          <a:xfrm>
            <a:off x="0" y="5782963"/>
            <a:ext cx="2257425" cy="1075037"/>
          </a:xfrm>
          <a:prstGeom prst="rect">
            <a:avLst/>
          </a:prstGeom>
        </p:spPr>
      </p:pic>
      <p:graphicFrame>
        <p:nvGraphicFramePr>
          <p:cNvPr id="6" name="Content Placeholder 2">
            <a:extLst>
              <a:ext uri="{FF2B5EF4-FFF2-40B4-BE49-F238E27FC236}">
                <a16:creationId xmlns:a16="http://schemas.microsoft.com/office/drawing/2014/main" id="{C27A2571-8E40-47BC-8774-8CF0B1336C6C}"/>
              </a:ext>
            </a:extLst>
          </p:cNvPr>
          <p:cNvGraphicFramePr/>
          <p:nvPr>
            <p:extLst>
              <p:ext uri="{D42A27DB-BD31-4B8C-83A1-F6EECF244321}">
                <p14:modId xmlns:p14="http://schemas.microsoft.com/office/powerpoint/2010/main" val="2095045150"/>
              </p:ext>
            </p:extLst>
          </p:nvPr>
        </p:nvGraphicFramePr>
        <p:xfrm>
          <a:off x="2416782" y="4478852"/>
          <a:ext cx="8634984" cy="280817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Rectangle 7" descr="Beaker">
            <a:extLst>
              <a:ext uri="{FF2B5EF4-FFF2-40B4-BE49-F238E27FC236}">
                <a16:creationId xmlns:a16="http://schemas.microsoft.com/office/drawing/2014/main" id="{B48528D0-F87E-B4B4-E06A-2909C144DEE6}"/>
              </a:ext>
            </a:extLst>
          </p:cNvPr>
          <p:cNvSpPr/>
          <p:nvPr/>
        </p:nvSpPr>
        <p:spPr>
          <a:xfrm>
            <a:off x="159356" y="64008"/>
            <a:ext cx="810000" cy="810000"/>
          </a:xfrm>
          <a:prstGeom prst="rect">
            <a:avLst/>
          </a:prstGeom>
          <a: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a:blipFill>
        </p:spPr>
        <p:style>
          <a:lnRef idx="3">
            <a:schemeClr val="lt1">
              <a:hueOff val="0"/>
              <a:satOff val="0"/>
              <a:lumOff val="0"/>
              <a:alphaOff val="0"/>
            </a:schemeClr>
          </a:lnRef>
          <a:fillRef idx="1">
            <a:scrgbClr r="0" g="0" b="0"/>
          </a:fillRef>
          <a:effectRef idx="1">
            <a:schemeClr val="accent3">
              <a:hueOff val="1372388"/>
              <a:satOff val="8237"/>
              <a:lumOff val="6275"/>
              <a:alphaOff val="0"/>
            </a:schemeClr>
          </a:effectRef>
          <a:fontRef idx="minor">
            <a:schemeClr val="lt1"/>
          </a:fontRef>
        </p:style>
        <p:txBody>
          <a:bodyPr/>
          <a:lstStyle/>
          <a:p>
            <a:endParaRPr lang="en-GB"/>
          </a:p>
        </p:txBody>
      </p:sp>
      <p:sp>
        <p:nvSpPr>
          <p:cNvPr id="11" name="TextBox 10">
            <a:extLst>
              <a:ext uri="{FF2B5EF4-FFF2-40B4-BE49-F238E27FC236}">
                <a16:creationId xmlns:a16="http://schemas.microsoft.com/office/drawing/2014/main" id="{B18B6257-4AFD-0247-196B-4FFE88FF68B4}"/>
              </a:ext>
            </a:extLst>
          </p:cNvPr>
          <p:cNvSpPr txBox="1"/>
          <p:nvPr/>
        </p:nvSpPr>
        <p:spPr>
          <a:xfrm>
            <a:off x="5613844" y="4018100"/>
            <a:ext cx="6094476" cy="646331"/>
          </a:xfrm>
          <a:prstGeom prst="rect">
            <a:avLst/>
          </a:prstGeom>
          <a:noFill/>
        </p:spPr>
        <p:txBody>
          <a:bodyPr wrap="square">
            <a:spAutoFit/>
          </a:bodyPr>
          <a:lstStyle/>
          <a:p>
            <a:pPr marL="285750" indent="-285750">
              <a:buFont typeface="Arial" panose="020B0604020202020204" pitchFamily="34" charset="0"/>
              <a:buChar char="•"/>
            </a:pPr>
            <a:r>
              <a:rPr lang="en-US" dirty="0"/>
              <a:t>AWE: Cost-effective, 2 A/cm², Ni electrodes + 30% KOH</a:t>
            </a:r>
          </a:p>
          <a:p>
            <a:pPr marL="285750" indent="-285750">
              <a:buFont typeface="Arial" panose="020B0604020202020204" pitchFamily="34" charset="0"/>
              <a:buChar char="•"/>
            </a:pPr>
            <a:r>
              <a:rPr lang="en-US" dirty="0"/>
              <a:t>PEM: 1 A/cm², Pt electrodes, requires ultrapure water</a:t>
            </a:r>
          </a:p>
        </p:txBody>
      </p:sp>
      <p:sp>
        <p:nvSpPr>
          <p:cNvPr id="12" name="TextBox 11">
            <a:extLst>
              <a:ext uri="{FF2B5EF4-FFF2-40B4-BE49-F238E27FC236}">
                <a16:creationId xmlns:a16="http://schemas.microsoft.com/office/drawing/2014/main" id="{01634323-ED1D-3696-A7C9-50A53081B600}"/>
              </a:ext>
            </a:extLst>
          </p:cNvPr>
          <p:cNvSpPr txBox="1"/>
          <p:nvPr/>
        </p:nvSpPr>
        <p:spPr>
          <a:xfrm>
            <a:off x="224027" y="1145894"/>
            <a:ext cx="11740896" cy="646331"/>
          </a:xfrm>
          <a:prstGeom prst="rect">
            <a:avLst/>
          </a:prstGeom>
          <a:noFill/>
        </p:spPr>
        <p:txBody>
          <a:bodyPr wrap="square" rtlCol="0">
            <a:spAutoFit/>
          </a:bodyPr>
          <a:lstStyle/>
          <a:p>
            <a:r>
              <a:rPr lang="en-GB" dirty="0"/>
              <a:t>Here the main types of electrolysis were researched,  and 4 main types were identified, and the AWE and PEM were chosen as the best due to their standard operational conditions</a:t>
            </a:r>
          </a:p>
        </p:txBody>
      </p:sp>
      <p:sp>
        <p:nvSpPr>
          <p:cNvPr id="14" name="TextBox 13">
            <a:extLst>
              <a:ext uri="{FF2B5EF4-FFF2-40B4-BE49-F238E27FC236}">
                <a16:creationId xmlns:a16="http://schemas.microsoft.com/office/drawing/2014/main" id="{753AF591-49F1-9FDA-856E-4E648016979B}"/>
              </a:ext>
            </a:extLst>
          </p:cNvPr>
          <p:cNvSpPr txBox="1"/>
          <p:nvPr/>
        </p:nvSpPr>
        <p:spPr>
          <a:xfrm>
            <a:off x="112013" y="2548563"/>
            <a:ext cx="5676801" cy="2024144"/>
          </a:xfrm>
          <a:prstGeom prst="rect">
            <a:avLst/>
          </a:prstGeom>
          <a:noFill/>
        </p:spPr>
        <p:txBody>
          <a:bodyPr wrap="square">
            <a:spAutoFit/>
          </a:bodyPr>
          <a:lstStyle/>
          <a:p>
            <a:pPr>
              <a:lnSpc>
                <a:spcPct val="107000"/>
              </a:lnSpc>
              <a:spcAft>
                <a:spcPts val="800"/>
              </a:spcAft>
              <a:buNone/>
            </a:pPr>
            <a:r>
              <a:rPr lang="en-GB" sz="1100" kern="100" dirty="0">
                <a:effectLst/>
                <a:latin typeface="Aptos" panose="020B0004020202020204" pitchFamily="34" charset="0"/>
                <a:ea typeface="Aptos" panose="020B0004020202020204" pitchFamily="34" charset="0"/>
                <a:cs typeface="Arial" panose="020B0604020202020204" pitchFamily="34" charset="0"/>
              </a:rPr>
              <a:t>Burton, N.A. and Grant, J.C. (2025). The effects of magnetic fields on the electrochemical and molecular dynamics during water electrolysis. </a:t>
            </a:r>
            <a:r>
              <a:rPr lang="en-GB" sz="1100" i="1" kern="100" dirty="0">
                <a:effectLst/>
                <a:latin typeface="Aptos" panose="020B0004020202020204" pitchFamily="34" charset="0"/>
                <a:ea typeface="Aptos" panose="020B0004020202020204" pitchFamily="34" charset="0"/>
                <a:cs typeface="Arial" panose="020B0604020202020204" pitchFamily="34" charset="0"/>
              </a:rPr>
              <a:t>International Journal of Hydrogen Energy</a:t>
            </a:r>
            <a:r>
              <a:rPr lang="en-GB" sz="1100" kern="100" dirty="0">
                <a:effectLst/>
                <a:latin typeface="Aptos" panose="020B0004020202020204" pitchFamily="34" charset="0"/>
                <a:ea typeface="Aptos" panose="020B0004020202020204" pitchFamily="34" charset="0"/>
                <a:cs typeface="Arial" panose="020B0604020202020204" pitchFamily="34" charset="0"/>
              </a:rPr>
              <a:t>, [online] 137, pp.710–724</a:t>
            </a:r>
          </a:p>
          <a:p>
            <a:pPr>
              <a:lnSpc>
                <a:spcPct val="107000"/>
              </a:lnSpc>
              <a:spcAft>
                <a:spcPts val="800"/>
              </a:spcAft>
              <a:buNone/>
            </a:pPr>
            <a:r>
              <a:rPr lang="en-GB" sz="1100" kern="100" dirty="0">
                <a:effectLst/>
                <a:latin typeface="Aptos" panose="020B0004020202020204" pitchFamily="34" charset="0"/>
                <a:ea typeface="Aptos" panose="020B0004020202020204" pitchFamily="34" charset="0"/>
                <a:cs typeface="Arial" panose="020B0604020202020204" pitchFamily="34" charset="0"/>
              </a:rPr>
              <a:t>Key points</a:t>
            </a:r>
          </a:p>
          <a:p>
            <a:pPr>
              <a:lnSpc>
                <a:spcPct val="107000"/>
              </a:lnSpc>
              <a:spcAft>
                <a:spcPts val="800"/>
              </a:spcAft>
              <a:buNone/>
            </a:pPr>
            <a:r>
              <a:rPr lang="en-GB" sz="1100" kern="100" dirty="0">
                <a:effectLst/>
                <a:latin typeface="Aptos" panose="020B0004020202020204" pitchFamily="34" charset="0"/>
                <a:ea typeface="Aptos" panose="020B0004020202020204" pitchFamily="34" charset="0"/>
                <a:cs typeface="Arial" panose="020B0604020202020204" pitchFamily="34" charset="0"/>
              </a:rPr>
              <a:t> </a:t>
            </a:r>
          </a:p>
          <a:p>
            <a:pPr marL="342900" lvl="0" indent="-342900">
              <a:lnSpc>
                <a:spcPct val="107000"/>
              </a:lnSpc>
              <a:buFont typeface="Symbol" panose="05050102010706020507" pitchFamily="18" charset="2"/>
              <a:buChar char=""/>
            </a:pPr>
            <a:r>
              <a:rPr lang="en-GB" sz="1100" kern="100" dirty="0">
                <a:effectLst/>
                <a:latin typeface="Aptos" panose="020B0004020202020204" pitchFamily="34" charset="0"/>
                <a:ea typeface="Aptos" panose="020B0004020202020204" pitchFamily="34" charset="0"/>
                <a:cs typeface="Arial" panose="020B0604020202020204" pitchFamily="34" charset="0"/>
              </a:rPr>
              <a:t>Increasing efficiency of hydrogen production with linear magnetic fields.</a:t>
            </a:r>
          </a:p>
          <a:p>
            <a:pPr marL="342900" lvl="0" indent="-342900">
              <a:lnSpc>
                <a:spcPct val="107000"/>
              </a:lnSpc>
              <a:buFont typeface="Symbol" panose="05050102010706020507" pitchFamily="18" charset="2"/>
              <a:buChar char=""/>
            </a:pPr>
            <a:r>
              <a:rPr lang="en-GB" sz="1100" kern="100" dirty="0">
                <a:effectLst/>
                <a:latin typeface="Aptos" panose="020B0004020202020204" pitchFamily="34" charset="0"/>
                <a:ea typeface="Aptos" panose="020B0004020202020204" pitchFamily="34" charset="0"/>
                <a:cs typeface="Arial" panose="020B0604020202020204" pitchFamily="34" charset="0"/>
              </a:rPr>
              <a:t>Magnetic fields increase the molecular energy of H</a:t>
            </a:r>
            <a:r>
              <a:rPr lang="en-GB" sz="1100" kern="100" baseline="-25000" dirty="0">
                <a:effectLst/>
                <a:latin typeface="Aptos" panose="020B0004020202020204" pitchFamily="34" charset="0"/>
                <a:ea typeface="Aptos" panose="020B0004020202020204" pitchFamily="34" charset="0"/>
                <a:cs typeface="Arial" panose="020B0604020202020204" pitchFamily="34" charset="0"/>
              </a:rPr>
              <a:t>2</a:t>
            </a:r>
            <a:r>
              <a:rPr lang="en-GB" sz="1100" kern="100" dirty="0">
                <a:effectLst/>
                <a:latin typeface="Aptos" panose="020B0004020202020204" pitchFamily="34" charset="0"/>
                <a:ea typeface="Aptos" panose="020B0004020202020204" pitchFamily="34" charset="0"/>
                <a:cs typeface="Arial" panose="020B0604020202020204" pitchFamily="34" charset="0"/>
              </a:rPr>
              <a:t>O during electrolysis.</a:t>
            </a:r>
          </a:p>
          <a:p>
            <a:pPr marL="342900" lvl="0" indent="-342900">
              <a:lnSpc>
                <a:spcPct val="107000"/>
              </a:lnSpc>
              <a:buFont typeface="Symbol" panose="05050102010706020507" pitchFamily="18" charset="2"/>
              <a:buChar char=""/>
            </a:pPr>
            <a:r>
              <a:rPr lang="en-GB" sz="1100" kern="100" dirty="0">
                <a:effectLst/>
                <a:latin typeface="Aptos" panose="020B0004020202020204" pitchFamily="34" charset="0"/>
                <a:ea typeface="Aptos" panose="020B0004020202020204" pitchFamily="34" charset="0"/>
                <a:cs typeface="Arial" panose="020B0604020202020204" pitchFamily="34" charset="0"/>
              </a:rPr>
              <a:t>Magnetic fields enhance load adaptability.</a:t>
            </a:r>
          </a:p>
          <a:p>
            <a:pPr marL="342900" lvl="0" indent="-342900">
              <a:lnSpc>
                <a:spcPct val="107000"/>
              </a:lnSpc>
              <a:spcAft>
                <a:spcPts val="800"/>
              </a:spcAft>
              <a:buFont typeface="Symbol" panose="05050102010706020507" pitchFamily="18" charset="2"/>
              <a:buChar char=""/>
            </a:pPr>
            <a:r>
              <a:rPr lang="en-GB" sz="1100" kern="100" dirty="0">
                <a:effectLst/>
                <a:latin typeface="Aptos" panose="020B0004020202020204" pitchFamily="34" charset="0"/>
                <a:ea typeface="Aptos" panose="020B0004020202020204" pitchFamily="34" charset="0"/>
                <a:cs typeface="Arial" panose="020B0604020202020204" pitchFamily="34" charset="0"/>
              </a:rPr>
              <a:t>Electrolysis efficiency is enhanced as water’s molecular energy increases.</a:t>
            </a:r>
          </a:p>
        </p:txBody>
      </p:sp>
      <p:sp>
        <p:nvSpPr>
          <p:cNvPr id="16" name="TextBox 15">
            <a:extLst>
              <a:ext uri="{FF2B5EF4-FFF2-40B4-BE49-F238E27FC236}">
                <a16:creationId xmlns:a16="http://schemas.microsoft.com/office/drawing/2014/main" id="{D1682F71-F1F2-722D-2B76-B0C1B39073C2}"/>
              </a:ext>
            </a:extLst>
          </p:cNvPr>
          <p:cNvSpPr txBox="1"/>
          <p:nvPr/>
        </p:nvSpPr>
        <p:spPr>
          <a:xfrm>
            <a:off x="5900828" y="1815806"/>
            <a:ext cx="6094476" cy="2031325"/>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“AWE and PEMWE(PEMs) are </a:t>
            </a:r>
            <a:r>
              <a:rPr lang="en-US" dirty="0" err="1">
                <a:latin typeface="Times New Roman" panose="02020603050405020304" pitchFamily="18" charset="0"/>
                <a:cs typeface="Times New Roman" panose="02020603050405020304" pitchFamily="18" charset="0"/>
              </a:rPr>
              <a:t>electrolysers</a:t>
            </a:r>
            <a:r>
              <a:rPr lang="en-US" dirty="0">
                <a:latin typeface="Times New Roman" panose="02020603050405020304" pitchFamily="18" charset="0"/>
                <a:cs typeface="Times New Roman" panose="02020603050405020304" pitchFamily="18" charset="0"/>
              </a:rPr>
              <a:t> that can be operated via solar power as their operating conditions are close to normal environmental conditions and various operating conditions are highlighted for optimal hydrogen production. As well as by (Emam et al., 2023) which collaborates their research with more experimental data with respect to Alkaline concentration, electrode spacing and surface area”.</a:t>
            </a:r>
            <a:endParaRPr lang="en-GB"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521804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37ABBD-3B57-A90E-2227-934A9360B40C}"/>
            </a:ext>
          </a:extLst>
        </p:cNvPr>
        <p:cNvGrpSpPr/>
        <p:nvPr/>
      </p:nvGrpSpPr>
      <p:grpSpPr>
        <a:xfrm>
          <a:off x="0" y="0"/>
          <a:ext cx="0" cy="0"/>
          <a:chOff x="0" y="0"/>
          <a:chExt cx="0" cy="0"/>
        </a:xfrm>
      </p:grpSpPr>
      <p:pic>
        <p:nvPicPr>
          <p:cNvPr id="2" name="Picture 1" descr="A red rectangular sign with white text&#10;&#10;AI-generated content may be incorrect.">
            <a:extLst>
              <a:ext uri="{FF2B5EF4-FFF2-40B4-BE49-F238E27FC236}">
                <a16:creationId xmlns:a16="http://schemas.microsoft.com/office/drawing/2014/main" id="{6398ECF2-88FA-8D77-B11B-9139C4B0C673}"/>
              </a:ext>
            </a:extLst>
          </p:cNvPr>
          <p:cNvPicPr>
            <a:picLocks noChangeAspect="1"/>
          </p:cNvPicPr>
          <p:nvPr/>
        </p:nvPicPr>
        <p:blipFill>
          <a:blip r:embed="rId2"/>
          <a:srcRect t="23259" b="23753"/>
          <a:stretch>
            <a:fillRect/>
          </a:stretch>
        </p:blipFill>
        <p:spPr>
          <a:xfrm>
            <a:off x="0" y="5782963"/>
            <a:ext cx="2257425" cy="1075037"/>
          </a:xfrm>
          <a:prstGeom prst="rect">
            <a:avLst/>
          </a:prstGeom>
        </p:spPr>
      </p:pic>
      <p:sp>
        <p:nvSpPr>
          <p:cNvPr id="3" name="Title 1">
            <a:extLst>
              <a:ext uri="{FF2B5EF4-FFF2-40B4-BE49-F238E27FC236}">
                <a16:creationId xmlns:a16="http://schemas.microsoft.com/office/drawing/2014/main" id="{42577137-B0CE-C6A8-BFDD-69A33C954B36}"/>
              </a:ext>
            </a:extLst>
          </p:cNvPr>
          <p:cNvSpPr txBox="1">
            <a:spLocks/>
          </p:cNvSpPr>
          <p:nvPr/>
        </p:nvSpPr>
        <p:spPr>
          <a:xfrm>
            <a:off x="-841248" y="-142793"/>
            <a:ext cx="8229600" cy="114300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GB" sz="4000" dirty="0"/>
              <a:t>Hydrogen Utilization</a:t>
            </a:r>
          </a:p>
        </p:txBody>
      </p:sp>
      <p:graphicFrame>
        <p:nvGraphicFramePr>
          <p:cNvPr id="6" name="Content Placeholder 2">
            <a:extLst>
              <a:ext uri="{FF2B5EF4-FFF2-40B4-BE49-F238E27FC236}">
                <a16:creationId xmlns:a16="http://schemas.microsoft.com/office/drawing/2014/main" id="{B0A6420C-2C85-1BF2-3ED8-493806D51D90}"/>
              </a:ext>
            </a:extLst>
          </p:cNvPr>
          <p:cNvGraphicFramePr/>
          <p:nvPr>
            <p:extLst>
              <p:ext uri="{D42A27DB-BD31-4B8C-83A1-F6EECF244321}">
                <p14:modId xmlns:p14="http://schemas.microsoft.com/office/powerpoint/2010/main" val="599326599"/>
              </p:ext>
            </p:extLst>
          </p:nvPr>
        </p:nvGraphicFramePr>
        <p:xfrm>
          <a:off x="3118104" y="4325112"/>
          <a:ext cx="9500961" cy="305368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TextBox 6">
            <a:extLst>
              <a:ext uri="{FF2B5EF4-FFF2-40B4-BE49-F238E27FC236}">
                <a16:creationId xmlns:a16="http://schemas.microsoft.com/office/drawing/2014/main" id="{3E5E205F-37E4-1FDB-BFED-586F8CC00AF1}"/>
              </a:ext>
            </a:extLst>
          </p:cNvPr>
          <p:cNvSpPr txBox="1"/>
          <p:nvPr/>
        </p:nvSpPr>
        <p:spPr>
          <a:xfrm>
            <a:off x="187452" y="1573609"/>
            <a:ext cx="11809475" cy="646331"/>
          </a:xfrm>
          <a:prstGeom prst="rect">
            <a:avLst/>
          </a:prstGeom>
          <a:noFill/>
        </p:spPr>
        <p:txBody>
          <a:bodyPr wrap="square" rtlCol="0">
            <a:spAutoFit/>
          </a:bodyPr>
          <a:lstStyle/>
          <a:p>
            <a:r>
              <a:rPr lang="en-GB" dirty="0"/>
              <a:t>Here the various methods of energy production through hydrogen was analysed and ways of optimal energy production was investigated.</a:t>
            </a:r>
          </a:p>
        </p:txBody>
      </p:sp>
      <p:sp>
        <p:nvSpPr>
          <p:cNvPr id="9" name="TextBox 8">
            <a:extLst>
              <a:ext uri="{FF2B5EF4-FFF2-40B4-BE49-F238E27FC236}">
                <a16:creationId xmlns:a16="http://schemas.microsoft.com/office/drawing/2014/main" id="{0428E28E-103D-1DFC-81FB-C6A30FB553F8}"/>
              </a:ext>
            </a:extLst>
          </p:cNvPr>
          <p:cNvSpPr txBox="1"/>
          <p:nvPr/>
        </p:nvSpPr>
        <p:spPr>
          <a:xfrm>
            <a:off x="160019" y="2690105"/>
            <a:ext cx="5436108" cy="2024144"/>
          </a:xfrm>
          <a:prstGeom prst="rect">
            <a:avLst/>
          </a:prstGeom>
          <a:noFill/>
        </p:spPr>
        <p:txBody>
          <a:bodyPr wrap="square">
            <a:spAutoFit/>
          </a:bodyPr>
          <a:lstStyle/>
          <a:p>
            <a:pPr>
              <a:lnSpc>
                <a:spcPct val="107000"/>
              </a:lnSpc>
              <a:spcAft>
                <a:spcPts val="800"/>
              </a:spcAft>
              <a:buNone/>
            </a:pPr>
            <a:r>
              <a:rPr lang="en-GB" sz="1100" kern="100" dirty="0">
                <a:effectLst/>
                <a:latin typeface="Aptos" panose="020B0004020202020204" pitchFamily="34" charset="0"/>
                <a:ea typeface="Aptos" panose="020B0004020202020204" pitchFamily="34" charset="0"/>
                <a:cs typeface="Arial" panose="020B0604020202020204" pitchFamily="34" charset="0"/>
              </a:rPr>
              <a:t>Hwang, J., Krisha Maharjan and Cho, H. (2023). A review of hydrogen utilization in power generation and transportation sectors: Achievements and future challenges. </a:t>
            </a:r>
            <a:r>
              <a:rPr lang="en-GB" sz="1100" i="1" kern="100" dirty="0">
                <a:effectLst/>
                <a:latin typeface="Aptos" panose="020B0004020202020204" pitchFamily="34" charset="0"/>
                <a:ea typeface="Aptos" panose="020B0004020202020204" pitchFamily="34" charset="0"/>
                <a:cs typeface="Arial" panose="020B0604020202020204" pitchFamily="34" charset="0"/>
              </a:rPr>
              <a:t>International Journal of Hydrogen Energy</a:t>
            </a:r>
            <a:r>
              <a:rPr lang="en-GB" sz="1100" kern="100" dirty="0">
                <a:effectLst/>
                <a:latin typeface="Aptos" panose="020B0004020202020204" pitchFamily="34" charset="0"/>
                <a:ea typeface="Aptos" panose="020B0004020202020204" pitchFamily="34" charset="0"/>
                <a:cs typeface="Arial" panose="020B0604020202020204" pitchFamily="34" charset="0"/>
              </a:rPr>
              <a:t>, 48(74).</a:t>
            </a:r>
          </a:p>
          <a:p>
            <a:pPr>
              <a:lnSpc>
                <a:spcPct val="107000"/>
              </a:lnSpc>
              <a:spcAft>
                <a:spcPts val="800"/>
              </a:spcAft>
              <a:buNone/>
            </a:pPr>
            <a:r>
              <a:rPr lang="en-GB" sz="1100" kern="100" dirty="0">
                <a:effectLst/>
                <a:latin typeface="Aptos" panose="020B0004020202020204" pitchFamily="34" charset="0"/>
                <a:ea typeface="Aptos" panose="020B0004020202020204" pitchFamily="34" charset="0"/>
                <a:cs typeface="Arial" panose="020B0604020202020204" pitchFamily="34" charset="0"/>
              </a:rPr>
              <a:t>Key points</a:t>
            </a:r>
          </a:p>
          <a:p>
            <a:pPr>
              <a:lnSpc>
                <a:spcPct val="107000"/>
              </a:lnSpc>
              <a:spcAft>
                <a:spcPts val="800"/>
              </a:spcAft>
              <a:buNone/>
            </a:pPr>
            <a:r>
              <a:rPr lang="en-GB" sz="1100" kern="100" dirty="0">
                <a:effectLst/>
                <a:latin typeface="Aptos" panose="020B0004020202020204" pitchFamily="34" charset="0"/>
                <a:ea typeface="Aptos" panose="020B0004020202020204" pitchFamily="34" charset="0"/>
                <a:cs typeface="Arial" panose="020B0604020202020204" pitchFamily="34" charset="0"/>
              </a:rPr>
              <a:t> </a:t>
            </a:r>
          </a:p>
          <a:p>
            <a:pPr marL="342900" lvl="0" indent="-342900">
              <a:lnSpc>
                <a:spcPct val="107000"/>
              </a:lnSpc>
              <a:buFont typeface="Symbol" panose="05050102010706020507" pitchFamily="18" charset="2"/>
              <a:buChar char=""/>
            </a:pPr>
            <a:r>
              <a:rPr lang="en-GB" sz="1100" kern="100" dirty="0">
                <a:effectLst/>
                <a:latin typeface="Aptos" panose="020B0004020202020204" pitchFamily="34" charset="0"/>
                <a:ea typeface="Aptos" panose="020B0004020202020204" pitchFamily="34" charset="0"/>
                <a:cs typeface="Arial" panose="020B0604020202020204" pitchFamily="34" charset="0"/>
              </a:rPr>
              <a:t>A comprehensive review on </a:t>
            </a:r>
            <a:r>
              <a:rPr lang="en-GB" sz="1100" strike="noStrike" kern="100" dirty="0">
                <a:effectLst/>
                <a:latin typeface="Aptos" panose="020B0004020202020204" pitchFamily="34" charset="0"/>
                <a:ea typeface="Aptos" panose="020B0004020202020204" pitchFamily="34" charset="0"/>
                <a:cs typeface="Arial" panose="020B0604020202020204" pitchFamily="34" charset="0"/>
                <a:hlinkClick r:id="rId8" tooltip="Learn more about hydrogen production from ScienceDirect's AI-generated Topic Pages">
                  <a:extLst>
                    <a:ext uri="{A12FA001-AC4F-418D-AE19-62706E023703}">
                      <ahyp:hlinkClr xmlns:ahyp="http://schemas.microsoft.com/office/drawing/2018/hyperlinkcolor" val="tx"/>
                    </a:ext>
                  </a:extLst>
                </a:hlinkClick>
              </a:rPr>
              <a:t>hydrogen production</a:t>
            </a:r>
            <a:r>
              <a:rPr lang="en-GB" sz="1100" kern="100" dirty="0">
                <a:effectLst/>
                <a:latin typeface="Aptos" panose="020B0004020202020204" pitchFamily="34" charset="0"/>
                <a:ea typeface="Aptos" panose="020B0004020202020204" pitchFamily="34" charset="0"/>
                <a:cs typeface="Arial" panose="020B0604020202020204" pitchFamily="34" charset="0"/>
              </a:rPr>
              <a:t> and utilization.</a:t>
            </a:r>
          </a:p>
          <a:p>
            <a:pPr marL="342900" lvl="0" indent="-342900">
              <a:lnSpc>
                <a:spcPct val="107000"/>
              </a:lnSpc>
              <a:buFont typeface="Symbol" panose="05050102010706020507" pitchFamily="18" charset="2"/>
              <a:buChar char=""/>
            </a:pPr>
            <a:r>
              <a:rPr lang="en-GB" sz="1100" kern="100" dirty="0">
                <a:effectLst/>
                <a:latin typeface="Aptos" panose="020B0004020202020204" pitchFamily="34" charset="0"/>
                <a:ea typeface="Aptos" panose="020B0004020202020204" pitchFamily="34" charset="0"/>
                <a:cs typeface="Arial" panose="020B0604020202020204" pitchFamily="34" charset="0"/>
              </a:rPr>
              <a:t>Achievements in hydrogen-powered system are discussed by world-wide projects.</a:t>
            </a:r>
          </a:p>
          <a:p>
            <a:pPr marL="342900" lvl="0" indent="-342900">
              <a:lnSpc>
                <a:spcPct val="107000"/>
              </a:lnSpc>
              <a:buFont typeface="Symbol" panose="05050102010706020507" pitchFamily="18" charset="2"/>
              <a:buChar char=""/>
            </a:pPr>
            <a:r>
              <a:rPr lang="en-GB" sz="1100" kern="100" dirty="0">
                <a:effectLst/>
                <a:latin typeface="Aptos" panose="020B0004020202020204" pitchFamily="34" charset="0"/>
                <a:ea typeface="Aptos" panose="020B0004020202020204" pitchFamily="34" charset="0"/>
                <a:cs typeface="Arial" panose="020B0604020202020204" pitchFamily="34" charset="0"/>
              </a:rPr>
              <a:t>Technical challenges in hydrogen utilization are discussed.</a:t>
            </a:r>
          </a:p>
          <a:p>
            <a:pPr marL="342900" lvl="0" indent="-342900">
              <a:lnSpc>
                <a:spcPct val="107000"/>
              </a:lnSpc>
              <a:spcAft>
                <a:spcPts val="800"/>
              </a:spcAft>
              <a:buFont typeface="Symbol" panose="05050102010706020507" pitchFamily="18" charset="2"/>
              <a:buChar char=""/>
            </a:pPr>
            <a:r>
              <a:rPr lang="en-GB" sz="1100" kern="100" dirty="0">
                <a:effectLst/>
                <a:latin typeface="Aptos" panose="020B0004020202020204" pitchFamily="34" charset="0"/>
                <a:ea typeface="Aptos" panose="020B0004020202020204" pitchFamily="34" charset="0"/>
                <a:cs typeface="Arial" panose="020B0604020202020204" pitchFamily="34" charset="0"/>
              </a:rPr>
              <a:t>Ideal scenario of hydrogen-powered transportation is suggested</a:t>
            </a:r>
          </a:p>
        </p:txBody>
      </p:sp>
      <p:sp>
        <p:nvSpPr>
          <p:cNvPr id="11" name="TextBox 10">
            <a:extLst>
              <a:ext uri="{FF2B5EF4-FFF2-40B4-BE49-F238E27FC236}">
                <a16:creationId xmlns:a16="http://schemas.microsoft.com/office/drawing/2014/main" id="{BF40048F-6E17-1418-8A79-D786C5D67334}"/>
              </a:ext>
            </a:extLst>
          </p:cNvPr>
          <p:cNvSpPr txBox="1"/>
          <p:nvPr/>
        </p:nvSpPr>
        <p:spPr>
          <a:xfrm>
            <a:off x="5596127" y="2548015"/>
            <a:ext cx="6400800" cy="2308324"/>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“H2-ICEs (hydrogen Internal combustion engines) are the best fit as they can make use of the highly combustible properties and convert to mechanical work. (Gao et al. 2025) has studied the efficiency of a H2-ICE both with a methane mixture and pure hydrogen operation. In only hydrogen internal combustion, the ratio of air in the mixture affects the flammability and combustion pressure, where it was found that a ratio of 0.6 gave the highest peak in flame propagation”.</a:t>
            </a:r>
            <a:endParaRPr lang="en-GB" dirty="0">
              <a:latin typeface="Times New Roman" panose="02020603050405020304" pitchFamily="18" charset="0"/>
              <a:cs typeface="Times New Roman" panose="02020603050405020304" pitchFamily="18" charset="0"/>
            </a:endParaRPr>
          </a:p>
        </p:txBody>
      </p:sp>
      <p:pic>
        <p:nvPicPr>
          <p:cNvPr id="12" name="Graphic 11" descr="Fire">
            <a:extLst>
              <a:ext uri="{FF2B5EF4-FFF2-40B4-BE49-F238E27FC236}">
                <a16:creationId xmlns:a16="http://schemas.microsoft.com/office/drawing/2014/main" id="{9D46453A-8067-03AB-0D3D-0D429978AB6E}"/>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0" y="-22142"/>
            <a:ext cx="1078991" cy="1078991"/>
          </a:xfrm>
          <a:prstGeom prst="rect">
            <a:avLst/>
          </a:prstGeom>
        </p:spPr>
      </p:pic>
    </p:spTree>
    <p:extLst>
      <p:ext uri="{BB962C8B-B14F-4D97-AF65-F5344CB8AC3E}">
        <p14:creationId xmlns:p14="http://schemas.microsoft.com/office/powerpoint/2010/main" val="13989820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01D8C8E-9FCC-92F5-B29F-3EB1740D4F4E}"/>
            </a:ext>
          </a:extLst>
        </p:cNvPr>
        <p:cNvGrpSpPr/>
        <p:nvPr/>
      </p:nvGrpSpPr>
      <p:grpSpPr>
        <a:xfrm>
          <a:off x="0" y="0"/>
          <a:ext cx="0" cy="0"/>
          <a:chOff x="0" y="0"/>
          <a:chExt cx="0" cy="0"/>
        </a:xfrm>
      </p:grpSpPr>
      <p:sp useBgFill="1">
        <p:nvSpPr>
          <p:cNvPr id="45" name="Rectangle 44">
            <a:extLst>
              <a:ext uri="{FF2B5EF4-FFF2-40B4-BE49-F238E27FC236}">
                <a16:creationId xmlns:a16="http://schemas.microsoft.com/office/drawing/2014/main" id="{0288C6B4-AFC3-407F-A595-EFFD38D4CC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47" name="Freeform: Shape 46">
            <a:extLst>
              <a:ext uri="{FF2B5EF4-FFF2-40B4-BE49-F238E27FC236}">
                <a16:creationId xmlns:a16="http://schemas.microsoft.com/office/drawing/2014/main" id="{CF236821-17FE-429B-8D2C-08E13A64EA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455673" cy="68580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44" name="Freeform: Shape 43">
            <a:extLst>
              <a:ext uri="{FF2B5EF4-FFF2-40B4-BE49-F238E27FC236}">
                <a16:creationId xmlns:a16="http://schemas.microsoft.com/office/drawing/2014/main" id="{C0BDBCD2-E081-43AB-9119-C55465E59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446529" cy="68580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Title 1">
            <a:extLst>
              <a:ext uri="{FF2B5EF4-FFF2-40B4-BE49-F238E27FC236}">
                <a16:creationId xmlns:a16="http://schemas.microsoft.com/office/drawing/2014/main" id="{C21CF110-7372-BD98-82E4-86EE2B5EE9FD}"/>
              </a:ext>
            </a:extLst>
          </p:cNvPr>
          <p:cNvSpPr txBox="1">
            <a:spLocks/>
          </p:cNvSpPr>
          <p:nvPr/>
        </p:nvSpPr>
        <p:spPr>
          <a:xfrm>
            <a:off x="-9144" y="-77849"/>
            <a:ext cx="7040880" cy="1239012"/>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spcAft>
                <a:spcPts val="600"/>
              </a:spcAft>
            </a:pPr>
            <a:r>
              <a:rPr lang="en-US" sz="4400" kern="1200" dirty="0">
                <a:solidFill>
                  <a:schemeClr val="tx1"/>
                </a:solidFill>
                <a:latin typeface="Times New Roman" panose="02020603050405020304" pitchFamily="18" charset="0"/>
                <a:cs typeface="Times New Roman" panose="02020603050405020304" pitchFamily="18" charset="0"/>
              </a:rPr>
              <a:t>Methodology</a:t>
            </a:r>
            <a:endParaRPr lang="en-US" sz="1600" kern="1200" dirty="0">
              <a:solidFill>
                <a:schemeClr val="tx1"/>
              </a:solidFill>
              <a:latin typeface="Times New Roman" panose="02020603050405020304" pitchFamily="18" charset="0"/>
              <a:cs typeface="Times New Roman" panose="02020603050405020304" pitchFamily="18" charset="0"/>
            </a:endParaRPr>
          </a:p>
        </p:txBody>
      </p:sp>
      <p:sp>
        <p:nvSpPr>
          <p:cNvPr id="46" name="Rectangle 45">
            <a:extLst>
              <a:ext uri="{FF2B5EF4-FFF2-40B4-BE49-F238E27FC236}">
                <a16:creationId xmlns:a16="http://schemas.microsoft.com/office/drawing/2014/main" id="{98E79BE4-34FE-485A-98A5-92CE8F7C47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426546"/>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8" name="Rectangle 47">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5893" y="2443480"/>
            <a:ext cx="33832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descr="A diagram of a power plant&#10;&#10;AI-generated content may be incorrect.">
            <a:extLst>
              <a:ext uri="{FF2B5EF4-FFF2-40B4-BE49-F238E27FC236}">
                <a16:creationId xmlns:a16="http://schemas.microsoft.com/office/drawing/2014/main" id="{20966D6F-E7A9-CEEF-643F-9780C8525A8F}"/>
              </a:ext>
            </a:extLst>
          </p:cNvPr>
          <p:cNvPicPr>
            <a:picLocks noChangeAspect="1"/>
          </p:cNvPicPr>
          <p:nvPr/>
        </p:nvPicPr>
        <p:blipFill>
          <a:blip r:embed="rId2">
            <a:extLst>
              <a:ext uri="{28A0092B-C50C-407E-A947-70E740481C1C}">
                <a14:useLocalDpi xmlns:a14="http://schemas.microsoft.com/office/drawing/2010/main" val="0"/>
              </a:ext>
            </a:extLst>
          </a:blip>
          <a:srcRect l="11374" t="1058" r="8929" b="2762"/>
          <a:stretch>
            <a:fillRect/>
          </a:stretch>
        </p:blipFill>
        <p:spPr>
          <a:xfrm>
            <a:off x="4901184" y="1161163"/>
            <a:ext cx="6922008" cy="4636257"/>
          </a:xfrm>
          <a:prstGeom prst="rect">
            <a:avLst/>
          </a:prstGeom>
        </p:spPr>
      </p:pic>
      <p:pic>
        <p:nvPicPr>
          <p:cNvPr id="8" name="Picture 7" descr="A red rectangular sign with white text&#10;&#10;AI-generated content may be incorrect.">
            <a:extLst>
              <a:ext uri="{FF2B5EF4-FFF2-40B4-BE49-F238E27FC236}">
                <a16:creationId xmlns:a16="http://schemas.microsoft.com/office/drawing/2014/main" id="{AB94F111-2EB6-ADC2-3185-9ACF6D5EC2FC}"/>
              </a:ext>
            </a:extLst>
          </p:cNvPr>
          <p:cNvPicPr>
            <a:picLocks noChangeAspect="1"/>
          </p:cNvPicPr>
          <p:nvPr/>
        </p:nvPicPr>
        <p:blipFill>
          <a:blip r:embed="rId3"/>
          <a:srcRect t="23259" b="23753"/>
          <a:stretch>
            <a:fillRect/>
          </a:stretch>
        </p:blipFill>
        <p:spPr>
          <a:xfrm>
            <a:off x="0" y="5782963"/>
            <a:ext cx="2257425" cy="1075037"/>
          </a:xfrm>
          <a:prstGeom prst="rect">
            <a:avLst/>
          </a:prstGeom>
        </p:spPr>
      </p:pic>
      <p:sp>
        <p:nvSpPr>
          <p:cNvPr id="9" name="Rectangle 8">
            <a:extLst>
              <a:ext uri="{FF2B5EF4-FFF2-40B4-BE49-F238E27FC236}">
                <a16:creationId xmlns:a16="http://schemas.microsoft.com/office/drawing/2014/main" id="{12712C4E-C804-AD2F-FE62-86CE889C3ECA}"/>
              </a:ext>
            </a:extLst>
          </p:cNvPr>
          <p:cNvSpPr/>
          <p:nvPr/>
        </p:nvSpPr>
        <p:spPr>
          <a:xfrm>
            <a:off x="395893" y="2321169"/>
            <a:ext cx="3438144" cy="64309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TextBox 9">
            <a:extLst>
              <a:ext uri="{FF2B5EF4-FFF2-40B4-BE49-F238E27FC236}">
                <a16:creationId xmlns:a16="http://schemas.microsoft.com/office/drawing/2014/main" id="{430596C0-13D2-7F77-E06C-55FC528F6E33}"/>
              </a:ext>
            </a:extLst>
          </p:cNvPr>
          <p:cNvSpPr txBox="1"/>
          <p:nvPr/>
        </p:nvSpPr>
        <p:spPr>
          <a:xfrm>
            <a:off x="134022" y="1426546"/>
            <a:ext cx="3953345" cy="4308645"/>
          </a:xfrm>
          <a:prstGeom prst="rect">
            <a:avLst/>
          </a:prstGeom>
        </p:spPr>
        <p:txBody>
          <a:bodyPr vert="horz" lIns="91440" tIns="45720" rIns="91440" bIns="45720" rtlCol="0" anchor="t">
            <a:normAutofit lnSpcReduction="10000"/>
          </a:bodyPr>
          <a:lstStyle/>
          <a:p>
            <a:pPr>
              <a:lnSpc>
                <a:spcPct val="90000"/>
              </a:lnSpc>
              <a:spcAft>
                <a:spcPts val="600"/>
              </a:spcAft>
            </a:pPr>
            <a:r>
              <a:rPr lang="en-US" sz="1600" dirty="0"/>
              <a:t>The methodology for this project  followed a step-by-step process as illustrated. Looking at a variety of variables involved with electrolysis and improvements made for existing processes to increase the overall energy efficiency of the system. All the equations, energy and hydrogen production values have been validated based on the literature review and the key improvements made in them have been taken into consideration in this project. The two electrolysis methods analyzed are PEM and AWE electrolysis. Their operational conditions are much more energy efficient, the power used will be through solar power panels, the approach will look at traditional solar input and the increase done by solar tracking. Furthermore, the gyroid shape electrode was analyzed in respect to AWE electrolysis, as a key improvement to existing electrodes.</a:t>
            </a:r>
          </a:p>
        </p:txBody>
      </p:sp>
      <p:sp>
        <p:nvSpPr>
          <p:cNvPr id="11" name="TextBox 10">
            <a:extLst>
              <a:ext uri="{FF2B5EF4-FFF2-40B4-BE49-F238E27FC236}">
                <a16:creationId xmlns:a16="http://schemas.microsoft.com/office/drawing/2014/main" id="{AA93765D-D3BF-09C8-256D-522E6F91F628}"/>
              </a:ext>
            </a:extLst>
          </p:cNvPr>
          <p:cNvSpPr txBox="1"/>
          <p:nvPr/>
        </p:nvSpPr>
        <p:spPr>
          <a:xfrm>
            <a:off x="7205472" y="568241"/>
            <a:ext cx="3392424" cy="369332"/>
          </a:xfrm>
          <a:prstGeom prst="rect">
            <a:avLst/>
          </a:prstGeom>
          <a:noFill/>
        </p:spPr>
        <p:txBody>
          <a:bodyPr wrap="square" rtlCol="0">
            <a:spAutoFit/>
          </a:bodyPr>
          <a:lstStyle/>
          <a:p>
            <a:r>
              <a:rPr lang="en-GB" dirty="0"/>
              <a:t>Visual methodology</a:t>
            </a:r>
          </a:p>
        </p:txBody>
      </p:sp>
    </p:spTree>
    <p:extLst>
      <p:ext uri="{BB962C8B-B14F-4D97-AF65-F5344CB8AC3E}">
        <p14:creationId xmlns:p14="http://schemas.microsoft.com/office/powerpoint/2010/main" val="39851261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9C8AAC-02C2-9792-49CE-B6D828F25B5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1966B43-F82B-C5F6-0F41-8804A0D92079}"/>
              </a:ext>
            </a:extLst>
          </p:cNvPr>
          <p:cNvSpPr txBox="1"/>
          <p:nvPr/>
        </p:nvSpPr>
        <p:spPr>
          <a:xfrm>
            <a:off x="2860550" y="1674674"/>
            <a:ext cx="9237720" cy="1754326"/>
          </a:xfrm>
          <a:prstGeom prst="rect">
            <a:avLst/>
          </a:prstGeom>
          <a:noFill/>
        </p:spPr>
        <p:txBody>
          <a:bodyPr wrap="square">
            <a:spAutoFit/>
          </a:bodyPr>
          <a:lstStyle/>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AWE electrolyzes as demonstrated use two metal electrodes which when an electric field is passed through break the hydrogen oxygen bonds and produce hydrogen and oxygen gases.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anode oxygen gas is produced while the anode releases hydrogen.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Utilizes Nickle (Ni) and Cobalt (Co) electrodes for large scale hydrogen production along with a Potassium hydroxide solution(KOH) used in 30-40% concentration for optimal hydrogen production as a catalyst for the reaction (El-Shafie, M. 2023).</a:t>
            </a:r>
            <a:endParaRPr lang="en-GB"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8F7F959B-D107-C0B1-B05B-7D4FC4C3FB8C}"/>
              </a:ext>
            </a:extLst>
          </p:cNvPr>
          <p:cNvSpPr txBox="1"/>
          <p:nvPr/>
        </p:nvSpPr>
        <p:spPr>
          <a:xfrm>
            <a:off x="2766820" y="3996932"/>
            <a:ext cx="9331450" cy="2031325"/>
          </a:xfrm>
          <a:prstGeom prst="rect">
            <a:avLst/>
          </a:prstGeom>
          <a:noFill/>
        </p:spPr>
        <p:txBody>
          <a:bodyPr wrap="square">
            <a:spAutoFit/>
          </a:bodyPr>
          <a:lstStyle/>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PEM electrolyzes as demonstrated uses a proton exchange membrane along with electrodes to produce hydrogen gas.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These electrolyzes are standard for safe sustainable use operating at 1.80V and a current density of 1 A/cm2 (</a:t>
            </a:r>
            <a:r>
              <a:rPr lang="en-US" dirty="0" err="1">
                <a:latin typeface="Times New Roman" panose="02020603050405020304" pitchFamily="18" charset="0"/>
                <a:cs typeface="Times New Roman" panose="02020603050405020304" pitchFamily="18" charset="0"/>
              </a:rPr>
              <a:t>Vedrtnam</a:t>
            </a:r>
            <a:r>
              <a:rPr lang="en-US" dirty="0">
                <a:latin typeface="Times New Roman" panose="02020603050405020304" pitchFamily="18" charset="0"/>
                <a:cs typeface="Times New Roman" panose="02020603050405020304" pitchFamily="18" charset="0"/>
              </a:rPr>
              <a:t> et al., 2025)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PEM electrolyzes have a few drawbacks compared to regular AWE electrolysis as the proton exchange membrane are susceptible to degradation in case of power overload or prolonged use.</a:t>
            </a:r>
            <a:endParaRPr lang="en-GB" dirty="0">
              <a:latin typeface="Times New Roman" panose="02020603050405020304" pitchFamily="18" charset="0"/>
              <a:cs typeface="Times New Roman" panose="02020603050405020304" pitchFamily="18" charset="0"/>
            </a:endParaRPr>
          </a:p>
        </p:txBody>
      </p:sp>
      <p:pic>
        <p:nvPicPr>
          <p:cNvPr id="8" name="Picture 7" descr="A diagram of electrolysis&#10;&#10;AI-generated content may be incorrect.">
            <a:extLst>
              <a:ext uri="{FF2B5EF4-FFF2-40B4-BE49-F238E27FC236}">
                <a16:creationId xmlns:a16="http://schemas.microsoft.com/office/drawing/2014/main" id="{4F364591-6F39-9830-FD3D-5A6744259933}"/>
              </a:ext>
            </a:extLst>
          </p:cNvPr>
          <p:cNvPicPr>
            <a:picLocks noChangeAspect="1"/>
          </p:cNvPicPr>
          <p:nvPr/>
        </p:nvPicPr>
        <p:blipFill>
          <a:blip r:embed="rId2">
            <a:extLst>
              <a:ext uri="{28A0092B-C50C-407E-A947-70E740481C1C}">
                <a14:useLocalDpi xmlns:a14="http://schemas.microsoft.com/office/drawing/2010/main" val="0"/>
              </a:ext>
            </a:extLst>
          </a:blip>
          <a:srcRect l="5377" t="2373" r="7363"/>
          <a:stretch>
            <a:fillRect/>
          </a:stretch>
        </p:blipFill>
        <p:spPr>
          <a:xfrm>
            <a:off x="93730" y="3383996"/>
            <a:ext cx="2673090" cy="2606040"/>
          </a:xfrm>
          <a:prstGeom prst="rect">
            <a:avLst/>
          </a:prstGeom>
        </p:spPr>
      </p:pic>
      <p:pic>
        <p:nvPicPr>
          <p:cNvPr id="10" name="Picture 9" descr="Diagram of a diagram of water electrolysis&#10;&#10;AI-generated content may be incorrect.">
            <a:extLst>
              <a:ext uri="{FF2B5EF4-FFF2-40B4-BE49-F238E27FC236}">
                <a16:creationId xmlns:a16="http://schemas.microsoft.com/office/drawing/2014/main" id="{2E6D3D12-3380-E3CA-6C2A-C8CD317E259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1016734"/>
            <a:ext cx="2944368" cy="2412266"/>
          </a:xfrm>
          <a:prstGeom prst="rect">
            <a:avLst/>
          </a:prstGeom>
        </p:spPr>
      </p:pic>
      <p:sp>
        <p:nvSpPr>
          <p:cNvPr id="13" name="TextBox 12">
            <a:extLst>
              <a:ext uri="{FF2B5EF4-FFF2-40B4-BE49-F238E27FC236}">
                <a16:creationId xmlns:a16="http://schemas.microsoft.com/office/drawing/2014/main" id="{869BC82C-48C1-5F31-2F02-D0144901ECCA}"/>
              </a:ext>
            </a:extLst>
          </p:cNvPr>
          <p:cNvSpPr txBox="1"/>
          <p:nvPr/>
        </p:nvSpPr>
        <p:spPr>
          <a:xfrm>
            <a:off x="777240" y="79828"/>
            <a:ext cx="6615684" cy="707886"/>
          </a:xfrm>
          <a:prstGeom prst="rect">
            <a:avLst/>
          </a:prstGeom>
          <a:noFill/>
        </p:spPr>
        <p:txBody>
          <a:bodyPr wrap="square" rtlCol="0">
            <a:spAutoFit/>
          </a:bodyPr>
          <a:lstStyle/>
          <a:p>
            <a:r>
              <a:rPr lang="en-GB" sz="4000" dirty="0">
                <a:latin typeface="+mj-lt"/>
              </a:rPr>
              <a:t>AWE and PEM Electrolysis</a:t>
            </a:r>
          </a:p>
        </p:txBody>
      </p:sp>
      <p:pic>
        <p:nvPicPr>
          <p:cNvPr id="16" name="Graphic 15" descr="Lightning bolt with solid fill">
            <a:extLst>
              <a:ext uri="{FF2B5EF4-FFF2-40B4-BE49-F238E27FC236}">
                <a16:creationId xmlns:a16="http://schemas.microsoft.com/office/drawing/2014/main" id="{6F85B840-7624-56CE-09A6-02C8E6BA3DAB}"/>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229357" y="-105725"/>
            <a:ext cx="1078991" cy="1078991"/>
          </a:xfrm>
          <a:prstGeom prst="rect">
            <a:avLst/>
          </a:prstGeom>
        </p:spPr>
      </p:pic>
      <p:pic>
        <p:nvPicPr>
          <p:cNvPr id="17" name="Picture 16" descr="A red rectangular sign with white text&#10;&#10;AI-generated content may be incorrect.">
            <a:extLst>
              <a:ext uri="{FF2B5EF4-FFF2-40B4-BE49-F238E27FC236}">
                <a16:creationId xmlns:a16="http://schemas.microsoft.com/office/drawing/2014/main" id="{5EF06D62-5994-5166-48A8-425F3409DF6C}"/>
              </a:ext>
            </a:extLst>
          </p:cNvPr>
          <p:cNvPicPr>
            <a:picLocks noChangeAspect="1"/>
          </p:cNvPicPr>
          <p:nvPr/>
        </p:nvPicPr>
        <p:blipFill>
          <a:blip r:embed="rId6"/>
          <a:srcRect t="23259" b="23753"/>
          <a:stretch>
            <a:fillRect/>
          </a:stretch>
        </p:blipFill>
        <p:spPr>
          <a:xfrm>
            <a:off x="0" y="5782963"/>
            <a:ext cx="2257425" cy="1075037"/>
          </a:xfrm>
          <a:prstGeom prst="rect">
            <a:avLst/>
          </a:prstGeom>
        </p:spPr>
      </p:pic>
    </p:spTree>
    <p:extLst>
      <p:ext uri="{BB962C8B-B14F-4D97-AF65-F5344CB8AC3E}">
        <p14:creationId xmlns:p14="http://schemas.microsoft.com/office/powerpoint/2010/main" val="38539903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45822F-A360-83DD-5E29-1CAC81F62376}"/>
            </a:ext>
          </a:extLst>
        </p:cNvPr>
        <p:cNvGrpSpPr/>
        <p:nvPr/>
      </p:nvGrpSpPr>
      <p:grpSpPr>
        <a:xfrm>
          <a:off x="0" y="0"/>
          <a:ext cx="0" cy="0"/>
          <a:chOff x="0" y="0"/>
          <a:chExt cx="0" cy="0"/>
        </a:xfrm>
      </p:grpSpPr>
      <p:pic>
        <p:nvPicPr>
          <p:cNvPr id="2" name="Picture 1" descr="A red rectangular sign with white text&#10;&#10;AI-generated content may be incorrect.">
            <a:extLst>
              <a:ext uri="{FF2B5EF4-FFF2-40B4-BE49-F238E27FC236}">
                <a16:creationId xmlns:a16="http://schemas.microsoft.com/office/drawing/2014/main" id="{72A5FCB0-A487-AC4F-60C6-355DECAC259C}"/>
              </a:ext>
            </a:extLst>
          </p:cNvPr>
          <p:cNvPicPr>
            <a:picLocks noChangeAspect="1"/>
          </p:cNvPicPr>
          <p:nvPr/>
        </p:nvPicPr>
        <p:blipFill>
          <a:blip r:embed="rId2"/>
          <a:srcRect t="23259" b="23753"/>
          <a:stretch>
            <a:fillRect/>
          </a:stretch>
        </p:blipFill>
        <p:spPr>
          <a:xfrm>
            <a:off x="0" y="5782963"/>
            <a:ext cx="2257425" cy="1075037"/>
          </a:xfrm>
          <a:prstGeom prst="rect">
            <a:avLst/>
          </a:prstGeom>
        </p:spPr>
      </p:pic>
      <p:sp>
        <p:nvSpPr>
          <p:cNvPr id="3" name="TextBox 2">
            <a:extLst>
              <a:ext uri="{FF2B5EF4-FFF2-40B4-BE49-F238E27FC236}">
                <a16:creationId xmlns:a16="http://schemas.microsoft.com/office/drawing/2014/main" id="{79A9DFA4-14F3-F3A4-58E5-CA877BB0A485}"/>
              </a:ext>
            </a:extLst>
          </p:cNvPr>
          <p:cNvSpPr txBox="1"/>
          <p:nvPr/>
        </p:nvSpPr>
        <p:spPr>
          <a:xfrm>
            <a:off x="685800" y="134692"/>
            <a:ext cx="6615684" cy="707886"/>
          </a:xfrm>
          <a:prstGeom prst="rect">
            <a:avLst/>
          </a:prstGeom>
          <a:noFill/>
        </p:spPr>
        <p:txBody>
          <a:bodyPr wrap="square" rtlCol="0">
            <a:spAutoFit/>
          </a:bodyPr>
          <a:lstStyle/>
          <a:p>
            <a:r>
              <a:rPr lang="en-GB" sz="4000" dirty="0">
                <a:latin typeface="+mj-lt"/>
              </a:rPr>
              <a:t>AWE Gyroid electrode</a:t>
            </a:r>
          </a:p>
        </p:txBody>
      </p:sp>
      <p:pic>
        <p:nvPicPr>
          <p:cNvPr id="5" name="Picture 4" descr="A grey cube with a pink anchor&#10;&#10;AI-generated content may be incorrect.">
            <a:extLst>
              <a:ext uri="{FF2B5EF4-FFF2-40B4-BE49-F238E27FC236}">
                <a16:creationId xmlns:a16="http://schemas.microsoft.com/office/drawing/2014/main" id="{3795E9BB-028A-4DC3-862D-39D6A392BF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1110448"/>
            <a:ext cx="5821517" cy="4046768"/>
          </a:xfrm>
          <a:prstGeom prst="rect">
            <a:avLst/>
          </a:prstGeom>
        </p:spPr>
      </p:pic>
      <p:pic>
        <p:nvPicPr>
          <p:cNvPr id="7" name="Picture 6" descr="A screenshot of a computer&#10;&#10;AI-generated content may be incorrect.">
            <a:extLst>
              <a:ext uri="{FF2B5EF4-FFF2-40B4-BE49-F238E27FC236}">
                <a16:creationId xmlns:a16="http://schemas.microsoft.com/office/drawing/2014/main" id="{D94922F5-BF72-A63E-FB06-83390B1B81E4}"/>
              </a:ext>
            </a:extLst>
          </p:cNvPr>
          <p:cNvPicPr>
            <a:picLocks noChangeAspect="1"/>
          </p:cNvPicPr>
          <p:nvPr/>
        </p:nvPicPr>
        <p:blipFill>
          <a:blip r:embed="rId4">
            <a:extLst>
              <a:ext uri="{28A0092B-C50C-407E-A947-70E740481C1C}">
                <a14:useLocalDpi xmlns:a14="http://schemas.microsoft.com/office/drawing/2010/main" val="0"/>
              </a:ext>
            </a:extLst>
          </a:blip>
          <a:srcRect r="53052"/>
          <a:stretch>
            <a:fillRect/>
          </a:stretch>
        </p:blipFill>
        <p:spPr>
          <a:xfrm>
            <a:off x="4456393" y="1097064"/>
            <a:ext cx="2409876" cy="1813622"/>
          </a:xfrm>
          <a:prstGeom prst="rect">
            <a:avLst/>
          </a:prstGeom>
        </p:spPr>
      </p:pic>
      <p:sp>
        <p:nvSpPr>
          <p:cNvPr id="9" name="TextBox 8">
            <a:extLst>
              <a:ext uri="{FF2B5EF4-FFF2-40B4-BE49-F238E27FC236}">
                <a16:creationId xmlns:a16="http://schemas.microsoft.com/office/drawing/2014/main" id="{E2B1EAD0-EA4F-429E-6717-70F2A26DC6E6}"/>
              </a:ext>
            </a:extLst>
          </p:cNvPr>
          <p:cNvSpPr txBox="1"/>
          <p:nvPr/>
        </p:nvSpPr>
        <p:spPr>
          <a:xfrm>
            <a:off x="2257425" y="5509931"/>
            <a:ext cx="9614473" cy="1200329"/>
          </a:xfrm>
          <a:prstGeom prst="rect">
            <a:avLst/>
          </a:prstGeom>
          <a:noFill/>
        </p:spPr>
        <p:txBody>
          <a:bodyPr wrap="square">
            <a:spAutoFit/>
          </a:bodyPr>
          <a:lstStyle/>
          <a:p>
            <a:r>
              <a:rPr lang="en-US" dirty="0"/>
              <a:t>The gyroid is a shape with high surface area and porosity which makes it ideal for the electrolysis process and its performance was investigated as an alternative to traditional flat face electrodes for AWE process. Therefore, a regular electrode with the same amount of material as the gyroid was analyzed.</a:t>
            </a:r>
            <a:endParaRPr lang="en-GB" dirty="0"/>
          </a:p>
        </p:txBody>
      </p:sp>
      <p:pic>
        <p:nvPicPr>
          <p:cNvPr id="13" name="Picture 12" descr="A graph with a line and a blue line&#10;&#10;AI-generated content may be incorrect.">
            <a:extLst>
              <a:ext uri="{FF2B5EF4-FFF2-40B4-BE49-F238E27FC236}">
                <a16:creationId xmlns:a16="http://schemas.microsoft.com/office/drawing/2014/main" id="{EBDC911E-55AB-958B-6B4A-345065F0881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342633" y="1110448"/>
            <a:ext cx="4849367" cy="2762619"/>
          </a:xfrm>
          <a:prstGeom prst="rect">
            <a:avLst/>
          </a:prstGeom>
        </p:spPr>
      </p:pic>
      <p:sp>
        <p:nvSpPr>
          <p:cNvPr id="15" name="TextBox 14">
            <a:extLst>
              <a:ext uri="{FF2B5EF4-FFF2-40B4-BE49-F238E27FC236}">
                <a16:creationId xmlns:a16="http://schemas.microsoft.com/office/drawing/2014/main" id="{467E58CB-EA0C-3816-9B09-4987192D523F}"/>
              </a:ext>
            </a:extLst>
          </p:cNvPr>
          <p:cNvSpPr txBox="1"/>
          <p:nvPr/>
        </p:nvSpPr>
        <p:spPr>
          <a:xfrm>
            <a:off x="6866269" y="4349982"/>
            <a:ext cx="6493383" cy="584775"/>
          </a:xfrm>
          <a:prstGeom prst="rect">
            <a:avLst/>
          </a:prstGeom>
          <a:noFill/>
        </p:spPr>
        <p:txBody>
          <a:bodyPr wrap="square">
            <a:spAutoFit/>
          </a:bodyPr>
          <a:lstStyle/>
          <a:p>
            <a:r>
              <a:rPr lang="en-US" sz="1600" dirty="0"/>
              <a:t>• Gyroid: 203 cm² surface area vs 54 cm² (flat)</a:t>
            </a:r>
          </a:p>
          <a:p>
            <a:r>
              <a:rPr lang="en-US" sz="1600" dirty="0"/>
              <a:t>• 3D printed Ni gyroid improves rate with same energy</a:t>
            </a:r>
          </a:p>
        </p:txBody>
      </p:sp>
      <p:pic>
        <p:nvPicPr>
          <p:cNvPr id="17" name="Picture 16" descr="A table with numbers and text&#10;&#10;AI-generated content may be incorrect.">
            <a:extLst>
              <a:ext uri="{FF2B5EF4-FFF2-40B4-BE49-F238E27FC236}">
                <a16:creationId xmlns:a16="http://schemas.microsoft.com/office/drawing/2014/main" id="{46D5E9FF-7A01-9D21-A626-D2E675D144CA}"/>
              </a:ext>
            </a:extLst>
          </p:cNvPr>
          <p:cNvPicPr>
            <a:picLocks noChangeAspect="1"/>
          </p:cNvPicPr>
          <p:nvPr/>
        </p:nvPicPr>
        <p:blipFill>
          <a:blip r:embed="rId6">
            <a:extLst>
              <a:ext uri="{28A0092B-C50C-407E-A947-70E740481C1C}">
                <a14:useLocalDpi xmlns:a14="http://schemas.microsoft.com/office/drawing/2010/main" val="0"/>
              </a:ext>
            </a:extLst>
          </a:blip>
          <a:srcRect r="6716"/>
          <a:stretch>
            <a:fillRect/>
          </a:stretch>
        </p:blipFill>
        <p:spPr>
          <a:xfrm>
            <a:off x="4456393" y="3429000"/>
            <a:ext cx="1994916" cy="1841964"/>
          </a:xfrm>
          <a:prstGeom prst="rect">
            <a:avLst/>
          </a:prstGeom>
        </p:spPr>
      </p:pic>
    </p:spTree>
    <p:extLst>
      <p:ext uri="{BB962C8B-B14F-4D97-AF65-F5344CB8AC3E}">
        <p14:creationId xmlns:p14="http://schemas.microsoft.com/office/powerpoint/2010/main" val="10335986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858286-1CB0-4D3B-FCA0-CB9DFA39F431}"/>
            </a:ext>
          </a:extLst>
        </p:cNvPr>
        <p:cNvGrpSpPr/>
        <p:nvPr/>
      </p:nvGrpSpPr>
      <p:grpSpPr>
        <a:xfrm>
          <a:off x="0" y="0"/>
          <a:ext cx="0" cy="0"/>
          <a:chOff x="0" y="0"/>
          <a:chExt cx="0" cy="0"/>
        </a:xfrm>
      </p:grpSpPr>
      <p:pic>
        <p:nvPicPr>
          <p:cNvPr id="2" name="Picture 1" descr="A red rectangular sign with white text&#10;&#10;AI-generated content may be incorrect.">
            <a:extLst>
              <a:ext uri="{FF2B5EF4-FFF2-40B4-BE49-F238E27FC236}">
                <a16:creationId xmlns:a16="http://schemas.microsoft.com/office/drawing/2014/main" id="{C052DEE8-90C5-B05D-6B23-459FF7C35226}"/>
              </a:ext>
            </a:extLst>
          </p:cNvPr>
          <p:cNvPicPr>
            <a:picLocks noChangeAspect="1"/>
          </p:cNvPicPr>
          <p:nvPr/>
        </p:nvPicPr>
        <p:blipFill>
          <a:blip r:embed="rId2"/>
          <a:srcRect t="23259" b="23753"/>
          <a:stretch>
            <a:fillRect/>
          </a:stretch>
        </p:blipFill>
        <p:spPr>
          <a:xfrm>
            <a:off x="0" y="5782963"/>
            <a:ext cx="2257425" cy="1075037"/>
          </a:xfrm>
          <a:prstGeom prst="rect">
            <a:avLst/>
          </a:prstGeom>
        </p:spPr>
      </p:pic>
      <p:sp>
        <p:nvSpPr>
          <p:cNvPr id="4" name="TextBox 3">
            <a:extLst>
              <a:ext uri="{FF2B5EF4-FFF2-40B4-BE49-F238E27FC236}">
                <a16:creationId xmlns:a16="http://schemas.microsoft.com/office/drawing/2014/main" id="{010295BC-0563-20E2-2738-972CD899F29D}"/>
              </a:ext>
            </a:extLst>
          </p:cNvPr>
          <p:cNvSpPr txBox="1"/>
          <p:nvPr/>
        </p:nvSpPr>
        <p:spPr>
          <a:xfrm>
            <a:off x="294894" y="135670"/>
            <a:ext cx="7358634" cy="769441"/>
          </a:xfrm>
          <a:prstGeom prst="rect">
            <a:avLst/>
          </a:prstGeom>
          <a:noFill/>
        </p:spPr>
        <p:txBody>
          <a:bodyPr wrap="square">
            <a:spAutoFit/>
          </a:bodyPr>
          <a:lstStyle/>
          <a:p>
            <a:r>
              <a:rPr lang="en-GB" sz="4400" dirty="0">
                <a:latin typeface="Times New Roman" panose="02020603050405020304" pitchFamily="18" charset="0"/>
                <a:cs typeface="Times New Roman" panose="02020603050405020304" pitchFamily="18" charset="0"/>
              </a:rPr>
              <a:t>Results &amp; Discussion</a:t>
            </a:r>
          </a:p>
        </p:txBody>
      </p:sp>
      <p:pic>
        <p:nvPicPr>
          <p:cNvPr id="6" name="Picture 5" descr="A graph of a graph&#10;&#10;AI-generated content may be incorrect.">
            <a:extLst>
              <a:ext uri="{FF2B5EF4-FFF2-40B4-BE49-F238E27FC236}">
                <a16:creationId xmlns:a16="http://schemas.microsoft.com/office/drawing/2014/main" id="{6D78BB8F-7456-BC97-D66E-65E8A7CC18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328" y="801756"/>
            <a:ext cx="7378175" cy="4564064"/>
          </a:xfrm>
          <a:prstGeom prst="rect">
            <a:avLst/>
          </a:prstGeom>
        </p:spPr>
      </p:pic>
      <p:sp>
        <p:nvSpPr>
          <p:cNvPr id="8" name="TextBox 7">
            <a:extLst>
              <a:ext uri="{FF2B5EF4-FFF2-40B4-BE49-F238E27FC236}">
                <a16:creationId xmlns:a16="http://schemas.microsoft.com/office/drawing/2014/main" id="{815E17D2-9A1E-8D67-9FF8-D163C6701746}"/>
              </a:ext>
            </a:extLst>
          </p:cNvPr>
          <p:cNvSpPr txBox="1"/>
          <p:nvPr/>
        </p:nvSpPr>
        <p:spPr>
          <a:xfrm>
            <a:off x="7323910" y="3514874"/>
            <a:ext cx="4868090" cy="1200329"/>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The production rate of the three </a:t>
            </a:r>
            <a:r>
              <a:rPr lang="en-US" dirty="0" err="1">
                <a:latin typeface="Times New Roman" panose="02020603050405020304" pitchFamily="18" charset="0"/>
                <a:cs typeface="Times New Roman" panose="02020603050405020304" pitchFamily="18" charset="0"/>
              </a:rPr>
              <a:t>electrolysers</a:t>
            </a:r>
            <a:r>
              <a:rPr lang="en-US" dirty="0">
                <a:latin typeface="Times New Roman" panose="02020603050405020304" pitchFamily="18" charset="0"/>
                <a:cs typeface="Times New Roman" panose="02020603050405020304" pitchFamily="18" charset="0"/>
              </a:rPr>
              <a:t> was modelled and compared for a run time of 15 minutes to see the amount of hydrogen produced and for energy analysis as provided</a:t>
            </a:r>
            <a:endParaRPr lang="en-GB"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A7B3B162-F639-1949-9F20-F7A4C6BF7DD8}"/>
              </a:ext>
            </a:extLst>
          </p:cNvPr>
          <p:cNvSpPr txBox="1"/>
          <p:nvPr/>
        </p:nvSpPr>
        <p:spPr>
          <a:xfrm>
            <a:off x="2257425" y="5537568"/>
            <a:ext cx="9728691" cy="923330"/>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Hydrogen has a molar volume of 22.4L/mol at STP which combined with the time and energy input for each </a:t>
            </a:r>
            <a:r>
              <a:rPr lang="en-US" dirty="0" err="1">
                <a:latin typeface="Times New Roman" panose="02020603050405020304" pitchFamily="18" charset="0"/>
                <a:cs typeface="Times New Roman" panose="02020603050405020304" pitchFamily="18" charset="0"/>
              </a:rPr>
              <a:t>electrolyser</a:t>
            </a:r>
            <a:r>
              <a:rPr lang="en-US" dirty="0">
                <a:latin typeface="Times New Roman" panose="02020603050405020304" pitchFamily="18" charset="0"/>
                <a:cs typeface="Times New Roman" panose="02020603050405020304" pitchFamily="18" charset="0"/>
              </a:rPr>
              <a:t> gives an estimate of the energy required per mole of Hydrogen produced for each </a:t>
            </a:r>
            <a:r>
              <a:rPr lang="en-US" dirty="0" err="1">
                <a:latin typeface="Times New Roman" panose="02020603050405020304" pitchFamily="18" charset="0"/>
                <a:cs typeface="Times New Roman" panose="02020603050405020304" pitchFamily="18" charset="0"/>
              </a:rPr>
              <a:t>electrolyser</a:t>
            </a:r>
            <a:r>
              <a:rPr lang="en-US" dirty="0">
                <a:latin typeface="Times New Roman" panose="02020603050405020304" pitchFamily="18" charset="0"/>
                <a:cs typeface="Times New Roman" panose="02020603050405020304" pitchFamily="18" charset="0"/>
              </a:rPr>
              <a:t>. </a:t>
            </a:r>
            <a:endParaRPr lang="en-GB" dirty="0">
              <a:latin typeface="Times New Roman" panose="02020603050405020304" pitchFamily="18" charset="0"/>
              <a:cs typeface="Times New Roman" panose="02020603050405020304" pitchFamily="18" charset="0"/>
            </a:endParaRPr>
          </a:p>
        </p:txBody>
      </p:sp>
      <p:pic>
        <p:nvPicPr>
          <p:cNvPr id="13" name="Picture 12" descr="A screenshot of a spreadsheet&#10;&#10;AI-generated content may be incorrect.">
            <a:extLst>
              <a:ext uri="{FF2B5EF4-FFF2-40B4-BE49-F238E27FC236}">
                <a16:creationId xmlns:a16="http://schemas.microsoft.com/office/drawing/2014/main" id="{E62053C7-AF75-4CBA-D42A-97A3D58246F6}"/>
              </a:ext>
            </a:extLst>
          </p:cNvPr>
          <p:cNvPicPr>
            <a:picLocks noChangeAspect="1"/>
          </p:cNvPicPr>
          <p:nvPr/>
        </p:nvPicPr>
        <p:blipFill>
          <a:blip r:embed="rId4">
            <a:extLst>
              <a:ext uri="{28A0092B-C50C-407E-A947-70E740481C1C}">
                <a14:useLocalDpi xmlns:a14="http://schemas.microsoft.com/office/drawing/2010/main" val="0"/>
              </a:ext>
            </a:extLst>
          </a:blip>
          <a:srcRect l="912" t="2365" r="1327" b="8812"/>
          <a:stretch>
            <a:fillRect/>
          </a:stretch>
        </p:blipFill>
        <p:spPr>
          <a:xfrm>
            <a:off x="7323910" y="1203430"/>
            <a:ext cx="4753921" cy="2139696"/>
          </a:xfrm>
          <a:prstGeom prst="rect">
            <a:avLst/>
          </a:prstGeom>
        </p:spPr>
      </p:pic>
    </p:spTree>
    <p:extLst>
      <p:ext uri="{BB962C8B-B14F-4D97-AF65-F5344CB8AC3E}">
        <p14:creationId xmlns:p14="http://schemas.microsoft.com/office/powerpoint/2010/main" val="25220573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C4A53BD-D515-BB40-D23E-7ED35994671A}"/>
            </a:ext>
          </a:extLst>
        </p:cNvPr>
        <p:cNvGrpSpPr/>
        <p:nvPr/>
      </p:nvGrpSpPr>
      <p:grpSpPr>
        <a:xfrm>
          <a:off x="0" y="0"/>
          <a:ext cx="0" cy="0"/>
          <a:chOff x="0" y="0"/>
          <a:chExt cx="0" cy="0"/>
        </a:xfrm>
      </p:grpSpPr>
      <p:pic>
        <p:nvPicPr>
          <p:cNvPr id="4" name="Picture 3" descr="A white sheet with black text&#10;&#10;AI-generated content may be incorrect.">
            <a:extLst>
              <a:ext uri="{FF2B5EF4-FFF2-40B4-BE49-F238E27FC236}">
                <a16:creationId xmlns:a16="http://schemas.microsoft.com/office/drawing/2014/main" id="{93C4544D-FEDD-F326-1B7E-2F6F1185F3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46181"/>
            <a:ext cx="5793099" cy="2751723"/>
          </a:xfrm>
          <a:prstGeom prst="rect">
            <a:avLst/>
          </a:prstGeom>
        </p:spPr>
      </p:pic>
      <p:pic>
        <p:nvPicPr>
          <p:cNvPr id="2" name="Picture 1" descr="A red rectangular sign with white text&#10;&#10;AI-generated content may be incorrect.">
            <a:extLst>
              <a:ext uri="{FF2B5EF4-FFF2-40B4-BE49-F238E27FC236}">
                <a16:creationId xmlns:a16="http://schemas.microsoft.com/office/drawing/2014/main" id="{B6DCB614-6542-E372-C7B4-877E6B605B3C}"/>
              </a:ext>
            </a:extLst>
          </p:cNvPr>
          <p:cNvPicPr>
            <a:picLocks noChangeAspect="1"/>
          </p:cNvPicPr>
          <p:nvPr/>
        </p:nvPicPr>
        <p:blipFill>
          <a:blip r:embed="rId3"/>
          <a:srcRect t="23259" b="23753"/>
          <a:stretch>
            <a:fillRect/>
          </a:stretch>
        </p:blipFill>
        <p:spPr>
          <a:xfrm>
            <a:off x="0" y="5782963"/>
            <a:ext cx="2257425" cy="1075037"/>
          </a:xfrm>
          <a:prstGeom prst="rect">
            <a:avLst/>
          </a:prstGeom>
        </p:spPr>
      </p:pic>
      <p:sp>
        <p:nvSpPr>
          <p:cNvPr id="6" name="TextBox 5">
            <a:extLst>
              <a:ext uri="{FF2B5EF4-FFF2-40B4-BE49-F238E27FC236}">
                <a16:creationId xmlns:a16="http://schemas.microsoft.com/office/drawing/2014/main" id="{5059B367-C2CC-4A2F-0BDE-AD565AD82C29}"/>
              </a:ext>
            </a:extLst>
          </p:cNvPr>
          <p:cNvSpPr txBox="1"/>
          <p:nvPr/>
        </p:nvSpPr>
        <p:spPr>
          <a:xfrm>
            <a:off x="171195" y="247287"/>
            <a:ext cx="5924805" cy="707886"/>
          </a:xfrm>
          <a:prstGeom prst="rect">
            <a:avLst/>
          </a:prstGeom>
          <a:noFill/>
        </p:spPr>
        <p:txBody>
          <a:bodyPr wrap="square">
            <a:spAutoFit/>
          </a:bodyPr>
          <a:lstStyle/>
          <a:p>
            <a:r>
              <a:rPr lang="en-GB" sz="4000" dirty="0">
                <a:latin typeface="+mj-lt"/>
              </a:rPr>
              <a:t>Energy &amp; Efficiency Analysis</a:t>
            </a:r>
          </a:p>
        </p:txBody>
      </p:sp>
      <p:sp>
        <p:nvSpPr>
          <p:cNvPr id="8" name="TextBox 7">
            <a:extLst>
              <a:ext uri="{FF2B5EF4-FFF2-40B4-BE49-F238E27FC236}">
                <a16:creationId xmlns:a16="http://schemas.microsoft.com/office/drawing/2014/main" id="{500D4251-A2B3-6704-FC71-C75FC277549F}"/>
              </a:ext>
            </a:extLst>
          </p:cNvPr>
          <p:cNvSpPr txBox="1"/>
          <p:nvPr/>
        </p:nvSpPr>
        <p:spPr>
          <a:xfrm>
            <a:off x="5926329" y="852327"/>
            <a:ext cx="6094476" cy="3539430"/>
          </a:xfrm>
          <a:prstGeom prst="rect">
            <a:avLst/>
          </a:prstGeom>
          <a:noFill/>
        </p:spPr>
        <p:txBody>
          <a:bodyPr wrap="square">
            <a:spAutoFit/>
          </a:bodyPr>
          <a:lstStyle/>
          <a:p>
            <a:r>
              <a:rPr lang="en-US" sz="1600" dirty="0">
                <a:latin typeface="Times New Roman" panose="02020603050405020304" pitchFamily="18" charset="0"/>
                <a:cs typeface="Times New Roman" panose="02020603050405020304" pitchFamily="18" charset="0"/>
              </a:rPr>
              <a:t>An energy matrix for the total energy comparison between each hydrogen production method energy input and hydrogen energy output through discussed utilization methods. Both AWE processes have identical overall energy efficiency loss, between 26% - 59% energy loss. Energy recovery through combustion has maximum efficiency for all three methods, as direct conversion to heat has minimal losses, electrical energy recovery shows an efficiency loss of 52% due to energy loss due to ohmic resistance and heat in fuel cells, and mechanical energy loss being nearly 60% due to heat loss in the H2-ICE cylinders. PEM energy recovery shows an overall net positive in energy recovery between 9% - 180% gain in efficiency, this increase is not a thermodynamically accurate result as there should be loss created; however, this result could be due to the highly optimal conditions considered in theoretical calculations. </a:t>
            </a:r>
            <a:endParaRPr lang="en-GB" sz="1600"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1661A2D2-2E08-B2B0-E2D5-E4E58071E808}"/>
              </a:ext>
            </a:extLst>
          </p:cNvPr>
          <p:cNvSpPr txBox="1"/>
          <p:nvPr/>
        </p:nvSpPr>
        <p:spPr>
          <a:xfrm>
            <a:off x="47736" y="4682765"/>
            <a:ext cx="11757185" cy="923330"/>
          </a:xfrm>
          <a:prstGeom prst="rect">
            <a:avLst/>
          </a:prstGeom>
          <a:noFill/>
        </p:spPr>
        <p:txBody>
          <a:bodyPr wrap="square">
            <a:spAutoFit/>
          </a:bodyPr>
          <a:lstStyle/>
          <a:p>
            <a:r>
              <a:rPr lang="en-US" sz="1800" dirty="0">
                <a:latin typeface="Times New Roman" panose="02020603050405020304" pitchFamily="18" charset="0"/>
                <a:cs typeface="Times New Roman" panose="02020603050405020304" pitchFamily="18" charset="0"/>
              </a:rPr>
              <a:t>This does give insight to the fact that PEM </a:t>
            </a:r>
            <a:r>
              <a:rPr lang="en-US" sz="1800" dirty="0" err="1">
                <a:latin typeface="Times New Roman" panose="02020603050405020304" pitchFamily="18" charset="0"/>
                <a:cs typeface="Times New Roman" panose="02020603050405020304" pitchFamily="18" charset="0"/>
              </a:rPr>
              <a:t>electrolysers</a:t>
            </a:r>
            <a:r>
              <a:rPr lang="en-US" sz="1800" dirty="0">
                <a:latin typeface="Times New Roman" panose="02020603050405020304" pitchFamily="18" charset="0"/>
                <a:cs typeface="Times New Roman" panose="02020603050405020304" pitchFamily="18" charset="0"/>
              </a:rPr>
              <a:t> do have a much higher energy efficiency that AWE </a:t>
            </a:r>
            <a:r>
              <a:rPr lang="en-US" sz="1800" dirty="0" err="1">
                <a:latin typeface="Times New Roman" panose="02020603050405020304" pitchFamily="18" charset="0"/>
                <a:cs typeface="Times New Roman" panose="02020603050405020304" pitchFamily="18" charset="0"/>
              </a:rPr>
              <a:t>electrolysers</a:t>
            </a:r>
            <a:r>
              <a:rPr lang="en-US" sz="1800" dirty="0">
                <a:latin typeface="Times New Roman" panose="02020603050405020304" pitchFamily="18" charset="0"/>
                <a:cs typeface="Times New Roman" panose="02020603050405020304" pitchFamily="18" charset="0"/>
              </a:rPr>
              <a:t> in comparison. The Gyroid shaped electrode did achieve a higher hydrogen production rate equivalent to the PEM in optimal conditions which does make it a viable alternative for improved hydrogen production. </a:t>
            </a:r>
            <a:endParaRPr lang="en-GB" dirty="0"/>
          </a:p>
        </p:txBody>
      </p:sp>
      <p:sp>
        <p:nvSpPr>
          <p:cNvPr id="12" name="TextBox 11">
            <a:extLst>
              <a:ext uri="{FF2B5EF4-FFF2-40B4-BE49-F238E27FC236}">
                <a16:creationId xmlns:a16="http://schemas.microsoft.com/office/drawing/2014/main" id="{73D8C206-8324-4EC8-5AC1-9122A73681D2}"/>
              </a:ext>
            </a:extLst>
          </p:cNvPr>
          <p:cNvSpPr txBox="1"/>
          <p:nvPr/>
        </p:nvSpPr>
        <p:spPr>
          <a:xfrm>
            <a:off x="1431036" y="3997904"/>
            <a:ext cx="6117336"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Hydrogen E</a:t>
            </a:r>
            <a:r>
              <a:rPr lang="en-US" sz="1800" dirty="0">
                <a:latin typeface="Times New Roman" panose="02020603050405020304" pitchFamily="18" charset="0"/>
                <a:cs typeface="Times New Roman" panose="02020603050405020304" pitchFamily="18" charset="0"/>
              </a:rPr>
              <a:t>nergy matrix</a:t>
            </a:r>
            <a:endParaRPr lang="en-GB" dirty="0"/>
          </a:p>
        </p:txBody>
      </p:sp>
    </p:spTree>
    <p:extLst>
      <p:ext uri="{BB962C8B-B14F-4D97-AF65-F5344CB8AC3E}">
        <p14:creationId xmlns:p14="http://schemas.microsoft.com/office/powerpoint/2010/main" val="34744725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C799903-48D5-4A31-A1A2-541072D977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Freeform: Shape 10">
            <a:extLst>
              <a:ext uri="{FF2B5EF4-FFF2-40B4-BE49-F238E27FC236}">
                <a16:creationId xmlns:a16="http://schemas.microsoft.com/office/drawing/2014/main" id="{8EFFF109-FC58-4FD3-BE05-9775A1310F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6E6E6"/>
            </a:solidFill>
          </a:ln>
          <a:effectLst>
            <a:outerShdw blurRad="508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Freeform: Shape 12">
            <a:extLst>
              <a:ext uri="{FF2B5EF4-FFF2-40B4-BE49-F238E27FC236}">
                <a16:creationId xmlns:a16="http://schemas.microsoft.com/office/drawing/2014/main" id="{E1B96AD6-92A9-4273-A62B-96A1C3E0BA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621792" y="1161288"/>
            <a:ext cx="3602736" cy="4526280"/>
          </a:xfrm>
        </p:spPr>
        <p:txBody>
          <a:bodyPr>
            <a:normAutofit/>
          </a:bodyPr>
          <a:lstStyle/>
          <a:p>
            <a:r>
              <a:rPr lang="en-GB" sz="4000" dirty="0">
                <a:latin typeface="Times New Roman" panose="02020603050405020304" pitchFamily="18" charset="0"/>
                <a:cs typeface="Times New Roman" panose="02020603050405020304" pitchFamily="18" charset="0"/>
              </a:rPr>
              <a:t>Conclusions and Future Work</a:t>
            </a:r>
          </a:p>
        </p:txBody>
      </p:sp>
      <p:sp>
        <p:nvSpPr>
          <p:cNvPr id="15" name="Rectangle 14">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102049"/>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p:cNvSpPr>
            <a:spLocks noGrp="1"/>
          </p:cNvSpPr>
          <p:nvPr>
            <p:ph idx="1"/>
          </p:nvPr>
        </p:nvSpPr>
        <p:spPr>
          <a:xfrm>
            <a:off x="5434149" y="292608"/>
            <a:ext cx="6398187" cy="6400800"/>
          </a:xfrm>
        </p:spPr>
        <p:txBody>
          <a:bodyPr anchor="ctr">
            <a:normAutofit/>
          </a:bodyPr>
          <a:lstStyle/>
          <a:p>
            <a:r>
              <a:rPr lang="en-US" sz="1700"/>
              <a:t>The study confirmed the viability of Solar powered electrolysis for green H₂</a:t>
            </a:r>
          </a:p>
          <a:p>
            <a:r>
              <a:rPr lang="en-US" sz="1700"/>
              <a:t>Gyroid electrodes boost AWE efficiency in H₂ production.</a:t>
            </a:r>
          </a:p>
          <a:p>
            <a:r>
              <a:rPr lang="en-US" sz="1700"/>
              <a:t>PEM has the best H₂ production rate under optimal lab conditions</a:t>
            </a:r>
          </a:p>
          <a:p>
            <a:r>
              <a:rPr lang="en-US" sz="1700"/>
              <a:t>More CFD/experimental validation recommended</a:t>
            </a:r>
          </a:p>
          <a:p>
            <a:r>
              <a:rPr lang="en-US" sz="1700"/>
              <a:t>PEM most energy efficient, but costly (requires pure water)</a:t>
            </a:r>
          </a:p>
          <a:p>
            <a:r>
              <a:rPr lang="en-US" sz="1700"/>
              <a:t>Gyroid AWE: Promising balance of efficiency &amp; cost</a:t>
            </a:r>
          </a:p>
          <a:p>
            <a:r>
              <a:rPr lang="en-US" sz="1700"/>
              <a:t>H₂ combustion is the best energy recovery path as there is no energy loss.</a:t>
            </a:r>
          </a:p>
          <a:p>
            <a:r>
              <a:rPr lang="en-US" sz="1700"/>
              <a:t>H₂ mechanical energy recovery is on 55% efficient, and H₂ fuel cells have an efficiency of 65%.</a:t>
            </a:r>
          </a:p>
          <a:p>
            <a:r>
              <a:rPr lang="en-US" sz="1700"/>
              <a:t>H₂ production effected by gas bubble dissipation needs further research</a:t>
            </a:r>
          </a:p>
        </p:txBody>
      </p:sp>
      <p:pic>
        <p:nvPicPr>
          <p:cNvPr id="4" name="Picture 3" descr="A red rectangular sign with white text&#10;&#10;AI-generated content may be incorrect.">
            <a:extLst>
              <a:ext uri="{FF2B5EF4-FFF2-40B4-BE49-F238E27FC236}">
                <a16:creationId xmlns:a16="http://schemas.microsoft.com/office/drawing/2014/main" id="{C1CE7157-56B1-6C00-FDA8-1652EF1F4EC2}"/>
              </a:ext>
            </a:extLst>
          </p:cNvPr>
          <p:cNvPicPr>
            <a:picLocks noChangeAspect="1"/>
          </p:cNvPicPr>
          <p:nvPr/>
        </p:nvPicPr>
        <p:blipFill>
          <a:blip r:embed="rId2"/>
          <a:srcRect t="23259" b="23753"/>
          <a:stretch>
            <a:fillRect/>
          </a:stretch>
        </p:blipFill>
        <p:spPr>
          <a:xfrm>
            <a:off x="0" y="5782963"/>
            <a:ext cx="2257425" cy="1075037"/>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D49D2F-2B85-6522-AFB4-31EDAE15021A}"/>
            </a:ext>
          </a:extLst>
        </p:cNvPr>
        <p:cNvGrpSpPr/>
        <p:nvPr/>
      </p:nvGrpSpPr>
      <p:grpSpPr>
        <a:xfrm>
          <a:off x="0" y="0"/>
          <a:ext cx="0" cy="0"/>
          <a:chOff x="0" y="0"/>
          <a:chExt cx="0" cy="0"/>
        </a:xfrm>
      </p:grpSpPr>
      <p:pic>
        <p:nvPicPr>
          <p:cNvPr id="2" name="Picture 1" descr="A red rectangular sign with white text&#10;&#10;AI-generated content may be incorrect.">
            <a:extLst>
              <a:ext uri="{FF2B5EF4-FFF2-40B4-BE49-F238E27FC236}">
                <a16:creationId xmlns:a16="http://schemas.microsoft.com/office/drawing/2014/main" id="{385557D9-B06E-C3DE-19C6-6FC551BBE515}"/>
              </a:ext>
            </a:extLst>
          </p:cNvPr>
          <p:cNvPicPr>
            <a:picLocks noChangeAspect="1"/>
          </p:cNvPicPr>
          <p:nvPr/>
        </p:nvPicPr>
        <p:blipFill>
          <a:blip r:embed="rId2"/>
          <a:srcRect t="23259" b="23753"/>
          <a:stretch>
            <a:fillRect/>
          </a:stretch>
        </p:blipFill>
        <p:spPr>
          <a:xfrm>
            <a:off x="0" y="5782963"/>
            <a:ext cx="2257425" cy="1075037"/>
          </a:xfrm>
          <a:prstGeom prst="rect">
            <a:avLst/>
          </a:prstGeom>
        </p:spPr>
      </p:pic>
      <p:sp>
        <p:nvSpPr>
          <p:cNvPr id="3" name="Title 1">
            <a:extLst>
              <a:ext uri="{FF2B5EF4-FFF2-40B4-BE49-F238E27FC236}">
                <a16:creationId xmlns:a16="http://schemas.microsoft.com/office/drawing/2014/main" id="{859DCA63-4173-CDE3-70DD-9A62152CC3C2}"/>
              </a:ext>
            </a:extLst>
          </p:cNvPr>
          <p:cNvSpPr txBox="1">
            <a:spLocks/>
          </p:cNvSpPr>
          <p:nvPr/>
        </p:nvSpPr>
        <p:spPr>
          <a:xfrm>
            <a:off x="-1208233" y="0"/>
            <a:ext cx="4343692" cy="6309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GB" sz="2800">
                <a:latin typeface="Times New Roman" panose="02020603050405020304" pitchFamily="18" charset="0"/>
                <a:cs typeface="Times New Roman" panose="02020603050405020304" pitchFamily="18" charset="0"/>
              </a:rPr>
              <a:t>References</a:t>
            </a:r>
            <a:endParaRPr lang="en-GB" sz="28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48891B2C-F9BF-921C-782C-A8568CE12080}"/>
              </a:ext>
            </a:extLst>
          </p:cNvPr>
          <p:cNvSpPr txBox="1"/>
          <p:nvPr/>
        </p:nvSpPr>
        <p:spPr>
          <a:xfrm>
            <a:off x="265176" y="630975"/>
            <a:ext cx="11926824" cy="5262979"/>
          </a:xfrm>
          <a:prstGeom prst="rect">
            <a:avLst/>
          </a:prstGeom>
          <a:noFill/>
        </p:spPr>
        <p:txBody>
          <a:bodyPr wrap="square" rtlCol="0">
            <a:spAutoFit/>
          </a:bodyPr>
          <a:lstStyle/>
          <a:p>
            <a:pPr marL="285750" indent="-285750">
              <a:buFont typeface="Arial" panose="020B0604020202020204" pitchFamily="34" charset="0"/>
              <a:buChar char="•"/>
            </a:pPr>
            <a:r>
              <a:rPr lang="en-GB" sz="1400"/>
              <a:t>Akpinar, E., Gül Katircioglu, G. and Das, M. (2025). Effects of solar tracking on different types of solar panels; experimental study for thermal and photovoltaic types. International Journal of Hydrogen Energy. Available from: https://www.sciencedirect.com/science/article/pii/ S0360319925007207#sec3</a:t>
            </a:r>
          </a:p>
          <a:p>
            <a:pPr marL="285750" indent="-285750">
              <a:buFont typeface="Arial" panose="020B0604020202020204" pitchFamily="34" charset="0"/>
              <a:buChar char="•"/>
            </a:pPr>
            <a:r>
              <a:rPr lang="en-US" sz="1400"/>
              <a:t>Burton, N.A. and Grant, J.C. (2025). The effects of magnetic fields on the electrochemical and molecular dynamics during water electrolysis. International Journal of Hydrogen Energy, [online] 137, pp.710–724. Available from: https://www.sciencedirect.com/science/article/pii/ S036031992502350X#sec5#</a:t>
            </a:r>
          </a:p>
          <a:p>
            <a:pPr marL="285750" indent="-285750">
              <a:buFont typeface="Arial" panose="020B0604020202020204" pitchFamily="34" charset="0"/>
              <a:buChar char="•"/>
            </a:pPr>
            <a:r>
              <a:rPr lang="en-US" sz="1400"/>
              <a:t>El-Shafie, M. (2023). Hydrogen production by water electrolysis technologies: A review. Results in Engineering, [online] 20, p.101426.Available from: https://www.sciencedirect.com/science/article/pii/ S2590123023005534?via%3Dihub </a:t>
            </a:r>
          </a:p>
          <a:p>
            <a:pPr marL="285750" indent="-285750">
              <a:buFont typeface="Arial" panose="020B0604020202020204" pitchFamily="34" charset="0"/>
              <a:buChar char="•"/>
            </a:pPr>
            <a:r>
              <a:rPr lang="en-GB" sz="1400"/>
              <a:t>Emam, A.S., Hamdan, M.O., Abu-Nabah, B.A. and Elnajjar, E. (2023). Enhancing alkaline water electrolysis through innovative approaches and parametric study. International Journal of Hydrogen Energy. [online] 55, pp. 1161-1173. Available from: https://www.sciencedirect.com/science/article/pii/S0360319923059736?dgcid=rss_sd_all#:~:text=First%2C%20surface%20roughness%20can%20in crease,leading%20to%20higher%20current%20d ensity.</a:t>
            </a:r>
          </a:p>
          <a:p>
            <a:pPr marL="285750" indent="-285750">
              <a:buFont typeface="Arial" panose="020B0604020202020204" pitchFamily="34" charset="0"/>
              <a:buChar char="•"/>
            </a:pPr>
            <a:r>
              <a:rPr lang="en-US" sz="1400"/>
              <a:t>Gao, N., Geng, Z., Zhao, W., Geng, L., Dong, F. and Huang, D. (2025). Review on the combustion and emission characteristics of hydrogen engine. International Journal of Hydrogen Energy, [online] 143, pp.121–146. Available from: https://www.sciencedirect.com/science/article/pii/ S0360319925026254</a:t>
            </a:r>
            <a:endParaRPr lang="en-GB" sz="1400"/>
          </a:p>
          <a:p>
            <a:pPr marL="285750" indent="-285750">
              <a:buFont typeface="Arial" panose="020B0604020202020204" pitchFamily="34" charset="0"/>
              <a:buChar char="•"/>
            </a:pPr>
            <a:r>
              <a:rPr lang="en-US" sz="1400"/>
              <a:t>Hwang, J., Krisha Maharjan and Cho, H. (2023). A review of hydrogen utilization in power generation and transportation sectors: Achievements and future challenges. International Journal of Hydrogen Energy, 48(74). Available from: https://www.sciencedirect.com/science/article/pii/ S0360319923017123#sec1</a:t>
            </a:r>
          </a:p>
          <a:p>
            <a:pPr marL="285750" indent="-285750">
              <a:buFont typeface="Arial" panose="020B0604020202020204" pitchFamily="34" charset="0"/>
              <a:buChar char="•"/>
            </a:pPr>
            <a:r>
              <a:rPr lang="en-GB" sz="1400"/>
              <a:t>Miao, L., Zhang, G., Shan, S., Xu, Z., Zhou, Z., Wang, Z. and Cen, K. (2025). Analysis of a three-band spectrum splitting photovoltaic-photothermal driven SOEC hydrogen production system. </a:t>
            </a:r>
            <a:r>
              <a:rPr lang="en-GB" sz="1400" i="1"/>
              <a:t>Solar Energy</a:t>
            </a:r>
            <a:r>
              <a:rPr lang="en-GB" sz="1400"/>
              <a:t>, [online] 297, p.113611 Available from: </a:t>
            </a:r>
            <a:r>
              <a:rPr lang="en-GB" sz="1400" u="sng">
                <a:hlinkClick r:id="rId3"/>
              </a:rPr>
              <a:t>https://www.sciencedirect.com/science/article/pii/S0038092X25003743</a:t>
            </a:r>
            <a:endParaRPr lang="en-GB" sz="1400"/>
          </a:p>
          <a:p>
            <a:pPr marL="285750" indent="-285750">
              <a:buFont typeface="Arial" panose="020B0604020202020204" pitchFamily="34" charset="0"/>
              <a:buChar char="•"/>
            </a:pPr>
            <a:r>
              <a:rPr lang="en-US" sz="1400"/>
              <a:t>Vedrtnam, A., Kalauni, K. and Pahwa, R. (2025). A review of water electrolysis technologies with insights into optimization and numerical simulations. International Journal of Hydrogen Energy, [online] 140, pp.694–727.Available from: https://www.sciencedirect.com/science/article/pii/ S0360319925025984#sec2 </a:t>
            </a:r>
            <a:endParaRPr lang="en-US" sz="1400" dirty="0"/>
          </a:p>
        </p:txBody>
      </p:sp>
    </p:spTree>
    <p:extLst>
      <p:ext uri="{BB962C8B-B14F-4D97-AF65-F5344CB8AC3E}">
        <p14:creationId xmlns:p14="http://schemas.microsoft.com/office/powerpoint/2010/main" val="42329545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BA74F91-E89E-0D19-09C6-B9380902C5B7}"/>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ACA2EA0-FFD3-42EC-9406-B595015ED9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D5288BCE-665C-472A-8C43-664BCFA31E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8762" y="1247775"/>
            <a:ext cx="9144000" cy="3007447"/>
          </a:xfrm>
          <a:prstGeom prst="rect">
            <a:avLst/>
          </a:prstGeom>
          <a:solidFill>
            <a:schemeClr val="bg1"/>
          </a:solidFill>
          <a:ln w="12700">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5" name="TextBox 4">
            <a:extLst>
              <a:ext uri="{FF2B5EF4-FFF2-40B4-BE49-F238E27FC236}">
                <a16:creationId xmlns:a16="http://schemas.microsoft.com/office/drawing/2014/main" id="{6BD8F7D1-E1A7-D1A9-712C-060C2C003DB6}"/>
              </a:ext>
            </a:extLst>
          </p:cNvPr>
          <p:cNvSpPr txBox="1"/>
          <p:nvPr/>
        </p:nvSpPr>
        <p:spPr>
          <a:xfrm>
            <a:off x="1804987" y="1491385"/>
            <a:ext cx="8582025" cy="2177328"/>
          </a:xfrm>
          <a:prstGeom prst="rect">
            <a:avLst/>
          </a:prstGeom>
        </p:spPr>
        <p:txBody>
          <a:bodyPr vert="horz" lIns="91440" tIns="45720" rIns="91440" bIns="45720" rtlCol="0" anchor="ctr">
            <a:normAutofit/>
          </a:bodyPr>
          <a:lstStyle/>
          <a:p>
            <a:pPr algn="ctr">
              <a:lnSpc>
                <a:spcPct val="90000"/>
              </a:lnSpc>
              <a:spcBef>
                <a:spcPct val="0"/>
              </a:spcBef>
              <a:spcAft>
                <a:spcPts val="600"/>
              </a:spcAft>
            </a:pPr>
            <a:r>
              <a:rPr lang="en-US" sz="6600" kern="1200" dirty="0">
                <a:solidFill>
                  <a:schemeClr val="tx1"/>
                </a:solidFill>
                <a:latin typeface="+mj-lt"/>
                <a:ea typeface="+mj-ea"/>
                <a:cs typeface="+mj-cs"/>
              </a:rPr>
              <a:t>Q &amp; A session</a:t>
            </a:r>
          </a:p>
        </p:txBody>
      </p:sp>
      <p:sp>
        <p:nvSpPr>
          <p:cNvPr id="14" name="Rectangle: Rounded Corners 13">
            <a:extLst>
              <a:ext uri="{FF2B5EF4-FFF2-40B4-BE49-F238E27FC236}">
                <a16:creationId xmlns:a16="http://schemas.microsoft.com/office/drawing/2014/main" id="{46C57131-53A7-4C1A-BEA8-25F06A06AD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87872" y="3912322"/>
            <a:ext cx="7225780"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A red rectangular sign with white text&#10;&#10;AI-generated content may be incorrect.">
            <a:extLst>
              <a:ext uri="{FF2B5EF4-FFF2-40B4-BE49-F238E27FC236}">
                <a16:creationId xmlns:a16="http://schemas.microsoft.com/office/drawing/2014/main" id="{E7489416-42F8-0C15-4EE8-CFFEFB3C1F0D}"/>
              </a:ext>
            </a:extLst>
          </p:cNvPr>
          <p:cNvPicPr>
            <a:picLocks noChangeAspect="1"/>
          </p:cNvPicPr>
          <p:nvPr/>
        </p:nvPicPr>
        <p:blipFill>
          <a:blip r:embed="rId2"/>
          <a:srcRect t="23259" b="23753"/>
          <a:stretch>
            <a:fillRect/>
          </a:stretch>
        </p:blipFill>
        <p:spPr>
          <a:xfrm>
            <a:off x="0" y="5782963"/>
            <a:ext cx="2257425" cy="1075037"/>
          </a:xfrm>
          <a:prstGeom prst="rect">
            <a:avLst/>
          </a:prstGeom>
        </p:spPr>
      </p:pic>
      <p:pic>
        <p:nvPicPr>
          <p:cNvPr id="3" name="Graphic 2" descr="Questions">
            <a:extLst>
              <a:ext uri="{FF2B5EF4-FFF2-40B4-BE49-F238E27FC236}">
                <a16:creationId xmlns:a16="http://schemas.microsoft.com/office/drawing/2014/main" id="{339B684E-9135-8088-C014-7B316F4CB76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205787" y="398824"/>
            <a:ext cx="4362450" cy="4362450"/>
          </a:xfrm>
          <a:prstGeom prst="rect">
            <a:avLst/>
          </a:prstGeom>
        </p:spPr>
      </p:pic>
    </p:spTree>
    <p:extLst>
      <p:ext uri="{BB962C8B-B14F-4D97-AF65-F5344CB8AC3E}">
        <p14:creationId xmlns:p14="http://schemas.microsoft.com/office/powerpoint/2010/main" val="36735328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50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7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10630</TotalTime>
  <Words>2532</Words>
  <Application>Microsoft Office PowerPoint</Application>
  <PresentationFormat>Widescreen</PresentationFormat>
  <Paragraphs>131</Paragraphs>
  <Slides>15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Aptos</vt:lpstr>
      <vt:lpstr>Aptos Display</vt:lpstr>
      <vt:lpstr>Arial</vt:lpstr>
      <vt:lpstr>Calibri</vt:lpstr>
      <vt:lpstr>Symbol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Conclusions and Future Work</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Joshua Fernando</dc:creator>
  <cp:lastModifiedBy>Joshua Fernando</cp:lastModifiedBy>
  <cp:revision>20</cp:revision>
  <dcterms:created xsi:type="dcterms:W3CDTF">2025-07-08T20:01:29Z</dcterms:created>
  <dcterms:modified xsi:type="dcterms:W3CDTF">2025-07-25T09:54:48Z</dcterms:modified>
</cp:coreProperties>
</file>